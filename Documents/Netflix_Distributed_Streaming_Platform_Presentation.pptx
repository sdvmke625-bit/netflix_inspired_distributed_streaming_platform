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8230db12-bd05-58bf-8a6d-685f8c9c451d}">
          <p14:sldIdLst>
            <p14:sldId id="256"/>
            <p14:sldId id="257"/>
          </p14:sldIdLst>
        </p14:section>
        <p14:section name="Design and Implementation" id="{8c6423b1-c4f8-7832-ad37-1fa7f5b030f0}">
          <p14:sldIdLst>
            <p14:sldId id="258"/>
            <p14:sldId id="259"/>
          </p14:sldIdLst>
        </p14:section>
        <p14:section name="Application and Conclusion" id="{999920d5-1979-3a7a-ee5e-eec095d8c7d8}">
          <p14:sldIdLst>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project is a Netflix-inspired academic application, not an official Netflix product. It is built as a multi-service system using React, Nginx, Django, Django REST Framework, HAProxy, PostgreSQL and Docker Compose. Three engineering contributions are highlighted: TCP resilience, Catalog load balancing, and database replication with backup and restore.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streaming application relies on several services and persistent data stores, so communication failures, backend outages and database coordination all matter. Our objectives: separate Catalog and session responsibilities, balance Catalog traffic across two instances, make TCP communication more reliable, replicate both databases, support logical backup and restore, and make deployment reproducible with Docker Compose. The flow at the bottom summarises the path from challenge to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logical layers. Presentation: the React frontend served by Nginx on host port 3000. Routing: HAProxy, port 8000 for Catalog HTTP and WebSocket, port 9002 for Catalog raw TCP. Application: two Movie Catalog instances sharing the Movies primary, and the Streaming Session Service on port 8001, which reaches the Catalog through HAProxy over raw TCP carrying newline-framed JSON. Data: separate Movies and Sessions PostgreSQL primary/replica pairs with asynchronous WAL streaming, plus an on-demand backup job writing compressed logical backups to a persistent Docker volume. Line colours and styles distinguish each communication type. There is no API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mechanisms. TCP resilience: connection and response timeouts, bounded retries, exponential backoff with jitter, and a process-local circuit breaker with recovery probing, protecting Streaming Session to Catalog communication. Catalog load balancing: HAProxy distributes HTTP round-robin across two instances, using HTTP health checks and TCP reachability checks; the TCP check only confirms connectivity, not the JSON protocol. Unhealthy instances leave rotation and rejoin after recovery. Database replication and backup: separate Movies and Sessions primary/replica pairs using asynchronous WAL streaming, read-only replicas, and on-demand logical backups.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log in through the Streaming Session service; the returned access token authenticates the session WebSocket. They browse, search and open movie details through the Catalog WebSocket routed by HAProxy. Video plays from local MP4 files served by Nginx, with seeking through HTTP byte-range requests. The Streaming Session service creates sessions, updates playback position, tracks completion and supports Continue Watching; replaying a completed movie creates a new session. The strip at the bottom shows which communication type each path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built a containerized multi-service streaming application with clear separation between the Catalog and Streaming Session services. We added TCP resilience, HAProxy load balancing across two Catalog instances, asynchronous PostgreSQL replication for both databases, and on-demand logical backup and restoration. Together these demonstrate practical distributed-systems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6400800" cy="137160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6400800" cy="1371600"/>
          </a:xfrm>
          <a:prstGeom prst="rect">
            <a:avLst/>
          </a:prstGeom>
          <a:noFill/>
          <a:ln/>
        </p:spPr>
        <p:txBody>
          <a:bodyPr wrap="square" lIns="0" tIns="0" rIns="0" bIns="0" rtlCol="0" anchor="t"/>
          <a:lstStyle/>
          <a:p>
            <a:pPr algn="l" indent="0" marL="0">
              <a:buNone/>
            </a:pPr>
            <a:r>
              <a:rPr lang="en-US" sz="3800" b="1" dirty="0">
                <a:solidFill>
                  <a:schemeClr val="tx1"/>
                </a:solidFill>
              </a:rPr>
              <a:t>Netflix Distributed Streaming Platform</a:t>
            </a:r>
            <a:endParaRPr lang="en-US" sz="3800" dirty="0"/>
          </a:p>
        </p:txBody>
      </p:sp>
      <p:sp>
        <p:nvSpPr>
          <p:cNvPr id="3" name="Text 1"/>
          <p:cNvSpPr txBox="1"/>
          <p:nvPr/>
        </p:nvSpPr>
        <p:spPr>
          <a:xfrm>
            <a:off x="548640" y="1920240"/>
            <a:ext cx="6309360" cy="411480"/>
          </a:xfrm>
          <a:prstGeom prst="rect">
            <a:avLst/>
          </a:prstGeom>
          <a:noFill/>
          <a:ln/>
        </p:spPr>
        <p:txBody>
          <a:bodyPr wrap="square" lIns="0" tIns="0" rIns="0" bIns="0" rtlCol="0" anchor="t"/>
          <a:lstStyle/>
          <a:p>
            <a:pPr indent="0" marL="0">
              <a:buNone/>
            </a:pPr>
            <a:r>
              <a:rPr lang="en-US" sz="2200" b="1" dirty="0">
                <a:solidFill>
                  <a:schemeClr val="accent1"/>
                </a:solidFill>
              </a:rPr>
              <a:t>A Distributed Computing Project</a:t>
            </a:r>
            <a:endParaRPr lang="en-US" sz="2200" dirty="0"/>
          </a:p>
        </p:txBody>
      </p:sp>
      <p:sp>
        <p:nvSpPr>
          <p:cNvPr id="4" name="Text 2"/>
          <p:cNvSpPr txBox="1"/>
          <p:nvPr/>
        </p:nvSpPr>
        <p:spPr>
          <a:xfrm>
            <a:off x="548640" y="2514600"/>
            <a:ext cx="6309360" cy="365760"/>
          </a:xfrm>
          <a:prstGeom prst="rect">
            <a:avLst/>
          </a:prstGeom>
          <a:noFill/>
          <a:ln/>
        </p:spPr>
        <p:txBody>
          <a:bodyPr wrap="square" lIns="0" tIns="0" rIns="0" bIns="0" rtlCol="0" anchor="t"/>
          <a:lstStyle/>
          <a:p>
            <a:pPr indent="0" marL="0">
              <a:buNone/>
            </a:pPr>
            <a:r>
              <a:rPr lang="en-US" sz="1800" b="1" dirty="0">
                <a:solidFill>
                  <a:schemeClr val="tx1"/>
                </a:solidFill>
              </a:rPr>
              <a:t>Project domain: </a:t>
            </a:r>
            <a:pPr indent="0" marL="0">
              <a:buNone/>
            </a:pPr>
            <a:r>
              <a:rPr lang="en-US" sz="1800" dirty="0">
                <a:solidFill>
                  <a:schemeClr val="tx1"/>
                </a:solidFill>
              </a:rPr>
              <a:t>Distributed Systems</a:t>
            </a:r>
            <a:endParaRPr lang="en-US" sz="1800" dirty="0"/>
          </a:p>
        </p:txBody>
      </p:sp>
      <p:sp>
        <p:nvSpPr>
          <p:cNvPr id="5" name="Text 3"/>
          <p:cNvSpPr txBox="1"/>
          <p:nvPr/>
        </p:nvSpPr>
        <p:spPr>
          <a:xfrm>
            <a:off x="548640" y="2926080"/>
            <a:ext cx="6309360" cy="320040"/>
          </a:xfrm>
          <a:prstGeom prst="rect">
            <a:avLst/>
          </a:prstGeom>
          <a:noFill/>
          <a:ln/>
        </p:spPr>
        <p:txBody>
          <a:bodyPr wrap="square" lIns="0" tIns="0" rIns="0" bIns="0" rtlCol="0" anchor="t"/>
          <a:lstStyle/>
          <a:p>
            <a:pPr indent="0" marL="0">
              <a:buNone/>
            </a:pPr>
            <a:r>
              <a:rPr lang="en-US" sz="1400" i="1" dirty="0">
                <a:solidFill>
                  <a:schemeClr val="tx2"/>
                </a:solidFill>
              </a:rPr>
              <a:t>A Netflix-inspired academic application, not an official Netflix product.</a:t>
            </a:r>
            <a:endParaRPr lang="en-US" sz="1400" dirty="0"/>
          </a:p>
        </p:txBody>
      </p:sp>
      <p:sp>
        <p:nvSpPr>
          <p:cNvPr id="6" name="Text 4"/>
          <p:cNvSpPr txBox="1"/>
          <p:nvPr/>
        </p:nvSpPr>
        <p:spPr>
          <a:xfrm>
            <a:off x="548640" y="3337560"/>
            <a:ext cx="6309360" cy="274320"/>
          </a:xfrm>
          <a:prstGeom prst="rect">
            <a:avLst/>
          </a:prstGeom>
          <a:noFill/>
          <a:ln/>
        </p:spPr>
        <p:txBody>
          <a:bodyPr wrap="square" lIns="0" tIns="0" rIns="0" bIns="0" rtlCol="0" anchor="t"/>
          <a:lstStyle/>
          <a:p>
            <a:pPr indent="0" marL="0">
              <a:buNone/>
            </a:pPr>
            <a:r>
              <a:rPr lang="en-US" sz="1400" b="1" dirty="0">
                <a:solidFill>
                  <a:schemeClr val="tx2"/>
                </a:solidFill>
              </a:rPr>
              <a:t>Technology stack</a:t>
            </a:r>
            <a:endParaRPr lang="en-US" sz="1400" dirty="0"/>
          </a:p>
        </p:txBody>
      </p:sp>
      <p:sp>
        <p:nvSpPr>
          <p:cNvPr id="7" name="Text 5"/>
          <p:cNvSpPr txBox="1"/>
          <p:nvPr/>
        </p:nvSpPr>
        <p:spPr>
          <a:xfrm>
            <a:off x="548640" y="3657600"/>
            <a:ext cx="914400" cy="365760"/>
          </a:xfrm>
          <a:prstGeom prst="roundRect">
            <a:avLst>
              <a:gd name="adj" fmla="val 15000"/>
            </a:avLst>
          </a:prstGeom>
          <a:solidFill>
            <a:schemeClr val="accent1">
              <a:alpha val="10000"/>
            </a:schemeClr>
          </a:solidFill>
          <a:ln w="12700">
            <a:solidFill>
              <a:schemeClr val="accent1"/>
            </a:solidFill>
          </a:ln>
        </p:spPr>
        <p:txBody>
          <a:bodyPr wrap="square" lIns="508" tIns="508" rIns="508" bIns="508" rtlCol="0" anchor="ctr"/>
          <a:lstStyle/>
          <a:p>
            <a:pPr algn="ctr" indent="0" marL="0">
              <a:buNone/>
            </a:pPr>
            <a:r>
              <a:rPr lang="en-US" sz="1400" dirty="0">
                <a:solidFill>
                  <a:schemeClr val="tx1"/>
                </a:solidFill>
              </a:rPr>
              <a:t>React</a:t>
            </a:r>
            <a:endParaRPr lang="en-US" sz="1400" dirty="0"/>
          </a:p>
        </p:txBody>
      </p:sp>
      <p:sp>
        <p:nvSpPr>
          <p:cNvPr id="8" name="Text 6"/>
          <p:cNvSpPr txBox="1"/>
          <p:nvPr/>
        </p:nvSpPr>
        <p:spPr>
          <a:xfrm>
            <a:off x="1600200" y="3657600"/>
            <a:ext cx="914400" cy="365760"/>
          </a:xfrm>
          <a:prstGeom prst="roundRect">
            <a:avLst>
              <a:gd name="adj" fmla="val 15000"/>
            </a:avLst>
          </a:prstGeom>
          <a:solidFill>
            <a:schemeClr val="accent1">
              <a:alpha val="10000"/>
            </a:schemeClr>
          </a:solidFill>
          <a:ln w="12700">
            <a:solidFill>
              <a:schemeClr val="accent1"/>
            </a:solidFill>
          </a:ln>
        </p:spPr>
        <p:txBody>
          <a:bodyPr wrap="square" lIns="508" tIns="508" rIns="508" bIns="508" rtlCol="0" anchor="ctr"/>
          <a:lstStyle/>
          <a:p>
            <a:pPr algn="ctr" indent="0" marL="0">
              <a:buNone/>
            </a:pPr>
            <a:r>
              <a:rPr lang="en-US" sz="1400" dirty="0">
                <a:solidFill>
                  <a:schemeClr val="tx1"/>
                </a:solidFill>
              </a:rPr>
              <a:t>Nginx</a:t>
            </a:r>
            <a:endParaRPr lang="en-US" sz="1400" dirty="0"/>
          </a:p>
        </p:txBody>
      </p:sp>
      <p:sp>
        <p:nvSpPr>
          <p:cNvPr id="9" name="Text 7"/>
          <p:cNvSpPr txBox="1"/>
          <p:nvPr/>
        </p:nvSpPr>
        <p:spPr>
          <a:xfrm>
            <a:off x="2651760" y="3657600"/>
            <a:ext cx="1051560" cy="365760"/>
          </a:xfrm>
          <a:prstGeom prst="roundRect">
            <a:avLst>
              <a:gd name="adj" fmla="val 15000"/>
            </a:avLst>
          </a:prstGeom>
          <a:solidFill>
            <a:schemeClr val="accent1">
              <a:alpha val="10000"/>
            </a:schemeClr>
          </a:solidFill>
          <a:ln w="12700">
            <a:solidFill>
              <a:schemeClr val="accent1"/>
            </a:solidFill>
          </a:ln>
        </p:spPr>
        <p:txBody>
          <a:bodyPr wrap="square" lIns="508" tIns="508" rIns="508" bIns="508" rtlCol="0" anchor="ctr"/>
          <a:lstStyle/>
          <a:p>
            <a:pPr algn="ctr" indent="0" marL="0">
              <a:buNone/>
            </a:pPr>
            <a:r>
              <a:rPr lang="en-US" sz="1400" dirty="0">
                <a:solidFill>
                  <a:schemeClr val="tx1"/>
                </a:solidFill>
              </a:rPr>
              <a:t>Django</a:t>
            </a:r>
            <a:endParaRPr lang="en-US" sz="1400" dirty="0"/>
          </a:p>
        </p:txBody>
      </p:sp>
      <p:sp>
        <p:nvSpPr>
          <p:cNvPr id="10" name="Text 8"/>
          <p:cNvSpPr txBox="1"/>
          <p:nvPr/>
        </p:nvSpPr>
        <p:spPr>
          <a:xfrm>
            <a:off x="3840480" y="3657600"/>
            <a:ext cx="2331720" cy="365760"/>
          </a:xfrm>
          <a:prstGeom prst="roundRect">
            <a:avLst>
              <a:gd name="adj" fmla="val 15000"/>
            </a:avLst>
          </a:prstGeom>
          <a:solidFill>
            <a:schemeClr val="accent1">
              <a:alpha val="10000"/>
            </a:schemeClr>
          </a:solidFill>
          <a:ln w="12700">
            <a:solidFill>
              <a:schemeClr val="accent1"/>
            </a:solidFill>
          </a:ln>
        </p:spPr>
        <p:txBody>
          <a:bodyPr wrap="square" lIns="508" tIns="508" rIns="508" bIns="508" rtlCol="0" anchor="ctr"/>
          <a:lstStyle/>
          <a:p>
            <a:pPr algn="ctr" indent="0" marL="0">
              <a:buNone/>
            </a:pPr>
            <a:r>
              <a:rPr lang="en-US" sz="1400" dirty="0">
                <a:solidFill>
                  <a:schemeClr val="tx1"/>
                </a:solidFill>
              </a:rPr>
              <a:t>Django REST Framework</a:t>
            </a:r>
            <a:endParaRPr lang="en-US" sz="1400" dirty="0"/>
          </a:p>
        </p:txBody>
      </p:sp>
      <p:sp>
        <p:nvSpPr>
          <p:cNvPr id="11" name="Text 9"/>
          <p:cNvSpPr txBox="1"/>
          <p:nvPr/>
        </p:nvSpPr>
        <p:spPr>
          <a:xfrm>
            <a:off x="548640" y="4114800"/>
            <a:ext cx="1188720" cy="365760"/>
          </a:xfrm>
          <a:prstGeom prst="roundRect">
            <a:avLst>
              <a:gd name="adj" fmla="val 15000"/>
            </a:avLst>
          </a:prstGeom>
          <a:solidFill>
            <a:schemeClr val="accent1">
              <a:alpha val="10000"/>
            </a:schemeClr>
          </a:solidFill>
          <a:ln w="12700">
            <a:solidFill>
              <a:schemeClr val="accent1"/>
            </a:solidFill>
          </a:ln>
        </p:spPr>
        <p:txBody>
          <a:bodyPr wrap="square" lIns="508" tIns="508" rIns="508" bIns="508" rtlCol="0" anchor="ctr"/>
          <a:lstStyle/>
          <a:p>
            <a:pPr algn="ctr" indent="0" marL="0">
              <a:buNone/>
            </a:pPr>
            <a:r>
              <a:rPr lang="en-US" sz="1400" dirty="0">
                <a:solidFill>
                  <a:schemeClr val="tx1"/>
                </a:solidFill>
              </a:rPr>
              <a:t>HAProxy</a:t>
            </a:r>
            <a:endParaRPr lang="en-US" sz="1400" dirty="0"/>
          </a:p>
        </p:txBody>
      </p:sp>
      <p:sp>
        <p:nvSpPr>
          <p:cNvPr id="12" name="Text 10"/>
          <p:cNvSpPr txBox="1"/>
          <p:nvPr/>
        </p:nvSpPr>
        <p:spPr>
          <a:xfrm>
            <a:off x="1874520" y="4114800"/>
            <a:ext cx="1417320" cy="365760"/>
          </a:xfrm>
          <a:prstGeom prst="roundRect">
            <a:avLst>
              <a:gd name="adj" fmla="val 15000"/>
            </a:avLst>
          </a:prstGeom>
          <a:solidFill>
            <a:schemeClr val="accent1">
              <a:alpha val="10000"/>
            </a:schemeClr>
          </a:solidFill>
          <a:ln w="12700">
            <a:solidFill>
              <a:schemeClr val="accent1"/>
            </a:solidFill>
          </a:ln>
        </p:spPr>
        <p:txBody>
          <a:bodyPr wrap="square" lIns="508" tIns="508" rIns="508" bIns="508" rtlCol="0" anchor="ctr"/>
          <a:lstStyle/>
          <a:p>
            <a:pPr algn="ctr" indent="0" marL="0">
              <a:buNone/>
            </a:pPr>
            <a:r>
              <a:rPr lang="en-US" sz="1400" dirty="0">
                <a:solidFill>
                  <a:schemeClr val="tx1"/>
                </a:solidFill>
              </a:rPr>
              <a:t>PostgreSQL</a:t>
            </a:r>
            <a:endParaRPr lang="en-US" sz="1400" dirty="0"/>
          </a:p>
        </p:txBody>
      </p:sp>
      <p:sp>
        <p:nvSpPr>
          <p:cNvPr id="13" name="Text 11"/>
          <p:cNvSpPr txBox="1"/>
          <p:nvPr/>
        </p:nvSpPr>
        <p:spPr>
          <a:xfrm>
            <a:off x="3429000" y="4114800"/>
            <a:ext cx="1737360" cy="365760"/>
          </a:xfrm>
          <a:prstGeom prst="roundRect">
            <a:avLst>
              <a:gd name="adj" fmla="val 15000"/>
            </a:avLst>
          </a:prstGeom>
          <a:solidFill>
            <a:schemeClr val="accent1">
              <a:alpha val="10000"/>
            </a:schemeClr>
          </a:solidFill>
          <a:ln w="12700">
            <a:solidFill>
              <a:schemeClr val="accent1"/>
            </a:solidFill>
          </a:ln>
        </p:spPr>
        <p:txBody>
          <a:bodyPr wrap="square" lIns="508" tIns="508" rIns="508" bIns="508" rtlCol="0" anchor="ctr"/>
          <a:lstStyle/>
          <a:p>
            <a:pPr algn="ctr" indent="0" marL="0">
              <a:buNone/>
            </a:pPr>
            <a:r>
              <a:rPr lang="en-US" sz="1400" dirty="0">
                <a:solidFill>
                  <a:schemeClr val="tx1"/>
                </a:solidFill>
              </a:rPr>
              <a:t>Docker Compose</a:t>
            </a:r>
            <a:endParaRPr lang="en-US" sz="1400" dirty="0"/>
          </a:p>
        </p:txBody>
      </p:sp>
      <p:sp>
        <p:nvSpPr>
          <p:cNvPr id="14" name="Frontend"/>
          <p:cNvSpPr txBox="1"/>
          <p:nvPr/>
        </p:nvSpPr>
        <p:spPr>
          <a:xfrm>
            <a:off x="7680960" y="640080"/>
            <a:ext cx="3657600" cy="685800"/>
          </a:xfrm>
          <a:prstGeom prst="roundRect">
            <a:avLst>
              <a:gd name="adj" fmla="val 8000"/>
            </a:avLst>
          </a:prstGeom>
          <a:solidFill>
            <a:schemeClr val="accent1">
              <a:alpha val="10000"/>
            </a:schemeClr>
          </a:solidFill>
          <a:ln w="15875">
            <a:solidFill>
              <a:schemeClr val="accent1"/>
            </a:solidFill>
          </a:ln>
        </p:spPr>
        <p:txBody>
          <a:bodyPr wrap="square" lIns="1016" tIns="1016" rIns="1016" bIns="1016" rtlCol="0" anchor="ctr"/>
          <a:lstStyle/>
          <a:p>
            <a:pPr algn="ctr" indent="0" marL="0">
              <a:buNone/>
            </a:pPr>
            <a:r>
              <a:rPr lang="en-US" sz="1600" b="1" dirty="0">
                <a:solidFill>
                  <a:schemeClr val="tx1"/>
                </a:solidFill>
              </a:rPr>
              <a:t>React Frontend + Nginx</a:t>
            </a:r>
            <a:endParaRPr lang="en-US" sz="1400" dirty="0"/>
          </a:p>
        </p:txBody>
      </p:sp>
      <p:sp>
        <p:nvSpPr>
          <p:cNvPr id="15" name="HAProxy"/>
          <p:cNvSpPr txBox="1"/>
          <p:nvPr/>
        </p:nvSpPr>
        <p:spPr>
          <a:xfrm>
            <a:off x="7315200" y="1783080"/>
            <a:ext cx="2194560" cy="502920"/>
          </a:xfrm>
          <a:prstGeom prst="roundRect">
            <a:avLst>
              <a:gd name="adj" fmla="val 10909"/>
            </a:avLst>
          </a:prstGeom>
          <a:solidFill>
            <a:schemeClr val="bg1"/>
          </a:solidFill>
          <a:ln w="12700">
            <a:solidFill>
              <a:schemeClr val="accent5"/>
            </a:solidFill>
          </a:ln>
        </p:spPr>
        <p:txBody>
          <a:bodyPr wrap="square" lIns="1016" tIns="1016" rIns="1016" bIns="1016" rtlCol="0" anchor="ctr"/>
          <a:lstStyle/>
          <a:p>
            <a:pPr algn="ctr" indent="0" marL="0">
              <a:buNone/>
            </a:pPr>
            <a:r>
              <a:rPr lang="en-US" sz="1400" b="1" dirty="0">
                <a:solidFill>
                  <a:schemeClr val="tx1"/>
                </a:solidFill>
              </a:rPr>
              <a:t>HAProxy</a:t>
            </a:r>
            <a:endParaRPr lang="en-US" sz="1400" dirty="0"/>
          </a:p>
        </p:txBody>
      </p:sp>
      <p:sp>
        <p:nvSpPr>
          <p:cNvPr id="16" name="Text 14"/>
          <p:cNvSpPr txBox="1"/>
          <p:nvPr/>
        </p:nvSpPr>
        <p:spPr>
          <a:xfrm>
            <a:off x="7315200" y="2834640"/>
            <a:ext cx="1051560" cy="640080"/>
          </a:xfrm>
          <a:prstGeom prst="roundRect">
            <a:avLst>
              <a:gd name="adj" fmla="val 8571"/>
            </a:avLst>
          </a:prstGeom>
          <a:solidFill>
            <a:schemeClr val="accent2">
              <a:alpha val="10000"/>
            </a:schemeClr>
          </a:solidFill>
          <a:ln w="15875">
            <a:solidFill>
              <a:schemeClr val="accent2"/>
            </a:solidFill>
          </a:ln>
        </p:spPr>
        <p:txBody>
          <a:bodyPr wrap="square" lIns="1016" tIns="1016" rIns="1016" bIns="1016" rtlCol="0" anchor="ctr"/>
          <a:lstStyle/>
          <a:p>
            <a:pPr algn="ctr" indent="0" marL="0">
              <a:buNone/>
            </a:pPr>
            <a:r>
              <a:rPr lang="en-US" sz="1400" dirty="0">
                <a:solidFill>
                  <a:schemeClr val="tx1"/>
                </a:solidFill>
              </a:rPr>
              <a:t>Catalog 1</a:t>
            </a:r>
            <a:endParaRPr lang="en-US" sz="1400" dirty="0"/>
          </a:p>
        </p:txBody>
      </p:sp>
      <p:sp>
        <p:nvSpPr>
          <p:cNvPr id="17" name="Text 15"/>
          <p:cNvSpPr txBox="1"/>
          <p:nvPr/>
        </p:nvSpPr>
        <p:spPr>
          <a:xfrm>
            <a:off x="8458200" y="2834640"/>
            <a:ext cx="1051560" cy="640080"/>
          </a:xfrm>
          <a:prstGeom prst="roundRect">
            <a:avLst>
              <a:gd name="adj" fmla="val 8571"/>
            </a:avLst>
          </a:prstGeom>
          <a:solidFill>
            <a:schemeClr val="accent2">
              <a:alpha val="10000"/>
            </a:schemeClr>
          </a:solidFill>
          <a:ln w="15875">
            <a:solidFill>
              <a:schemeClr val="accent2"/>
            </a:solidFill>
          </a:ln>
        </p:spPr>
        <p:txBody>
          <a:bodyPr wrap="square" lIns="1016" tIns="1016" rIns="1016" bIns="1016" rtlCol="0" anchor="ctr"/>
          <a:lstStyle/>
          <a:p>
            <a:pPr algn="ctr" indent="0" marL="0">
              <a:buNone/>
            </a:pPr>
            <a:r>
              <a:rPr lang="en-US" sz="1400" dirty="0">
                <a:solidFill>
                  <a:schemeClr val="tx1"/>
                </a:solidFill>
              </a:rPr>
              <a:t>Catalog 2</a:t>
            </a:r>
            <a:endParaRPr lang="en-US" sz="1400" dirty="0"/>
          </a:p>
        </p:txBody>
      </p:sp>
      <p:sp>
        <p:nvSpPr>
          <p:cNvPr id="18" name="Text 16"/>
          <p:cNvSpPr txBox="1"/>
          <p:nvPr/>
        </p:nvSpPr>
        <p:spPr>
          <a:xfrm>
            <a:off x="9784080" y="2834640"/>
            <a:ext cx="1920240" cy="640080"/>
          </a:xfrm>
          <a:prstGeom prst="roundRect">
            <a:avLst>
              <a:gd name="adj" fmla="val 8571"/>
            </a:avLst>
          </a:prstGeom>
          <a:solidFill>
            <a:schemeClr val="accent2">
              <a:alpha val="10000"/>
            </a:schemeClr>
          </a:solidFill>
          <a:ln w="15875">
            <a:solidFill>
              <a:schemeClr val="accent2"/>
            </a:solidFill>
          </a:ln>
        </p:spPr>
        <p:txBody>
          <a:bodyPr wrap="square" lIns="1016" tIns="1016" rIns="1016" bIns="1016" rtlCol="0" anchor="ctr"/>
          <a:lstStyle/>
          <a:p>
            <a:pPr algn="ctr" indent="0" marL="0">
              <a:buNone/>
            </a:pPr>
            <a:r>
              <a:rPr lang="en-US" sz="1400" dirty="0">
                <a:solidFill>
                  <a:schemeClr val="tx1"/>
                </a:solidFill>
              </a:rPr>
              <a:t>Session Service</a:t>
            </a:r>
            <a:endParaRPr lang="en-US" sz="1400" dirty="0"/>
          </a:p>
        </p:txBody>
      </p:sp>
      <p:sp>
        <p:nvSpPr>
          <p:cNvPr id="19" name="Text 17"/>
          <p:cNvSpPr txBox="1"/>
          <p:nvPr/>
        </p:nvSpPr>
        <p:spPr>
          <a:xfrm>
            <a:off x="7315200" y="3840480"/>
            <a:ext cx="2194560" cy="731520"/>
          </a:xfrm>
          <a:prstGeom prst="roundRect">
            <a:avLst>
              <a:gd name="adj" fmla="val 7500"/>
            </a:avLst>
          </a:prstGeom>
          <a:solidFill>
            <a:schemeClr val="accent4">
              <a:alpha val="8000"/>
            </a:schemeClr>
          </a:solidFill>
          <a:ln w="15875">
            <a:solidFill>
              <a:schemeClr val="accent4"/>
            </a:solidFill>
          </a:ln>
        </p:spPr>
        <p:txBody>
          <a:bodyPr wrap="square" lIns="1016" tIns="1016" rIns="1016" bIns="1016" rtlCol="0" anchor="ctr"/>
          <a:lstStyle/>
          <a:p>
            <a:pPr algn="ctr" indent="0" marL="0">
              <a:buNone/>
            </a:pPr>
            <a:r>
              <a:rPr lang="en-US" sz="1400" b="1" dirty="0">
                <a:solidFill>
                  <a:schemeClr val="tx1"/>
                </a:solidFill>
              </a:rPr>
              <a:t>Movies DB</a:t>
            </a:r>
            <a:endParaRPr lang="en-US" sz="1400" dirty="0"/>
          </a:p>
          <a:p>
            <a:pPr algn="ctr" indent="0" marL="0">
              <a:buNone/>
            </a:pPr>
            <a:r>
              <a:rPr lang="en-US" sz="1400" dirty="0">
                <a:solidFill>
                  <a:schemeClr val="tx1"/>
                </a:solidFill>
              </a:rPr>
              <a:t>Primary + Replica</a:t>
            </a:r>
            <a:endParaRPr lang="en-US" sz="1400" dirty="0"/>
          </a:p>
        </p:txBody>
      </p:sp>
      <p:sp>
        <p:nvSpPr>
          <p:cNvPr id="20" name="Text 18"/>
          <p:cNvSpPr txBox="1"/>
          <p:nvPr/>
        </p:nvSpPr>
        <p:spPr>
          <a:xfrm>
            <a:off x="9784080" y="3840480"/>
            <a:ext cx="1920240" cy="731520"/>
          </a:xfrm>
          <a:prstGeom prst="roundRect">
            <a:avLst>
              <a:gd name="adj" fmla="val 7500"/>
            </a:avLst>
          </a:prstGeom>
          <a:solidFill>
            <a:schemeClr val="accent4">
              <a:alpha val="8000"/>
            </a:schemeClr>
          </a:solidFill>
          <a:ln w="15875">
            <a:solidFill>
              <a:schemeClr val="accent4"/>
            </a:solidFill>
          </a:ln>
        </p:spPr>
        <p:txBody>
          <a:bodyPr wrap="square" lIns="1016" tIns="1016" rIns="1016" bIns="1016" rtlCol="0" anchor="ctr"/>
          <a:lstStyle/>
          <a:p>
            <a:pPr algn="ctr" indent="0" marL="0">
              <a:buNone/>
            </a:pPr>
            <a:r>
              <a:rPr lang="en-US" sz="1400" b="1" dirty="0">
                <a:solidFill>
                  <a:schemeClr val="tx1"/>
                </a:solidFill>
              </a:rPr>
              <a:t>Sessions DB</a:t>
            </a:r>
            <a:endParaRPr lang="en-US" sz="1400" dirty="0"/>
          </a:p>
          <a:p>
            <a:pPr algn="ctr" indent="0" marL="0">
              <a:buNone/>
            </a:pPr>
            <a:r>
              <a:rPr lang="en-US" sz="1400" dirty="0">
                <a:solidFill>
                  <a:schemeClr val="tx1"/>
                </a:solidFill>
              </a:rPr>
              <a:t>Primary + Replica</a:t>
            </a:r>
            <a:endParaRPr lang="en-US" sz="1400" dirty="0"/>
          </a:p>
        </p:txBody>
      </p:sp>
      <p:sp>
        <p:nvSpPr>
          <p:cNvPr id="21" name="Shape 19"/>
          <p:cNvSpPr/>
          <p:nvPr/>
        </p:nvSpPr>
        <p:spPr>
          <a:xfrm>
            <a:off x="8412480" y="1325880"/>
            <a:ext cx="0" cy="457200"/>
          </a:xfrm>
          <a:prstGeom prst="line">
            <a:avLst/>
          </a:prstGeom>
          <a:noFill/>
          <a:ln w="28575">
            <a:solidFill>
              <a:schemeClr val="accent2"/>
            </a:solidFill>
            <a:prstDash val="solid"/>
            <a:tailEnd type="triangle"/>
          </a:ln>
        </p:spPr>
      </p:sp>
      <p:sp>
        <p:nvSpPr>
          <p:cNvPr id="22" name="Shape 20"/>
          <p:cNvSpPr/>
          <p:nvPr/>
        </p:nvSpPr>
        <p:spPr>
          <a:xfrm>
            <a:off x="10744200" y="1325880"/>
            <a:ext cx="0" cy="1508760"/>
          </a:xfrm>
          <a:prstGeom prst="line">
            <a:avLst/>
          </a:prstGeom>
          <a:noFill/>
          <a:ln w="28575">
            <a:solidFill>
              <a:schemeClr val="accent1"/>
            </a:solidFill>
            <a:prstDash val="solid"/>
            <a:tailEnd type="triangle"/>
          </a:ln>
        </p:spPr>
      </p:sp>
      <p:sp>
        <p:nvSpPr>
          <p:cNvPr id="23" name="Shape 21"/>
          <p:cNvSpPr/>
          <p:nvPr/>
        </p:nvSpPr>
        <p:spPr>
          <a:xfrm>
            <a:off x="7840980" y="2286000"/>
            <a:ext cx="0" cy="548640"/>
          </a:xfrm>
          <a:prstGeom prst="line">
            <a:avLst/>
          </a:prstGeom>
          <a:noFill/>
          <a:ln w="28575">
            <a:solidFill>
              <a:schemeClr val="accent2"/>
            </a:solidFill>
            <a:prstDash val="solid"/>
            <a:tailEnd type="triangle"/>
          </a:ln>
        </p:spPr>
      </p:sp>
      <p:sp>
        <p:nvSpPr>
          <p:cNvPr id="24" name="Shape 22"/>
          <p:cNvSpPr/>
          <p:nvPr/>
        </p:nvSpPr>
        <p:spPr>
          <a:xfrm>
            <a:off x="8983980" y="2286000"/>
            <a:ext cx="0" cy="548640"/>
          </a:xfrm>
          <a:prstGeom prst="line">
            <a:avLst/>
          </a:prstGeom>
          <a:noFill/>
          <a:ln w="28575">
            <a:solidFill>
              <a:schemeClr val="accent2"/>
            </a:solidFill>
            <a:prstDash val="solid"/>
            <a:tailEnd type="triangle"/>
          </a:ln>
        </p:spPr>
      </p:sp>
      <p:sp>
        <p:nvSpPr>
          <p:cNvPr id="25" name="Shape 23"/>
          <p:cNvSpPr/>
          <p:nvPr/>
        </p:nvSpPr>
        <p:spPr>
          <a:xfrm>
            <a:off x="7840980" y="3474720"/>
            <a:ext cx="0" cy="365760"/>
          </a:xfrm>
          <a:prstGeom prst="line">
            <a:avLst/>
          </a:prstGeom>
          <a:noFill/>
          <a:ln w="28575">
            <a:solidFill>
              <a:schemeClr val="tx2"/>
            </a:solidFill>
            <a:prstDash val="solid"/>
            <a:tailEnd type="triangle"/>
          </a:ln>
        </p:spPr>
      </p:sp>
      <p:sp>
        <p:nvSpPr>
          <p:cNvPr id="26" name="Shape 24"/>
          <p:cNvSpPr/>
          <p:nvPr/>
        </p:nvSpPr>
        <p:spPr>
          <a:xfrm>
            <a:off x="8983980" y="3474720"/>
            <a:ext cx="0" cy="365760"/>
          </a:xfrm>
          <a:prstGeom prst="line">
            <a:avLst/>
          </a:prstGeom>
          <a:noFill/>
          <a:ln w="28575">
            <a:solidFill>
              <a:schemeClr val="tx2"/>
            </a:solidFill>
            <a:prstDash val="solid"/>
            <a:tailEnd type="triangle"/>
          </a:ln>
        </p:spPr>
      </p:sp>
      <p:sp>
        <p:nvSpPr>
          <p:cNvPr id="27" name="Shape 25"/>
          <p:cNvSpPr/>
          <p:nvPr/>
        </p:nvSpPr>
        <p:spPr>
          <a:xfrm>
            <a:off x="10744200" y="3474720"/>
            <a:ext cx="0" cy="365760"/>
          </a:xfrm>
          <a:prstGeom prst="line">
            <a:avLst/>
          </a:prstGeom>
          <a:noFill/>
          <a:ln w="28575">
            <a:solidFill>
              <a:schemeClr val="tx2"/>
            </a:solidFill>
            <a:prstDash val="solid"/>
            <a:tailEnd type="triangle"/>
          </a:ln>
        </p:spPr>
      </p:sp>
      <p:sp>
        <p:nvSpPr>
          <p:cNvPr id="28" name="Text 26"/>
          <p:cNvSpPr txBox="1"/>
          <p:nvPr/>
        </p:nvSpPr>
        <p:spPr>
          <a:xfrm>
            <a:off x="548640" y="4663440"/>
            <a:ext cx="6400800" cy="292608"/>
          </a:xfrm>
          <a:prstGeom prst="rect">
            <a:avLst/>
          </a:prstGeom>
          <a:noFill/>
          <a:ln/>
        </p:spPr>
        <p:txBody>
          <a:bodyPr wrap="square" lIns="0" tIns="0" rIns="0" bIns="0" rtlCol="0" anchor="t"/>
          <a:lstStyle/>
          <a:p>
            <a:pPr indent="0" marL="0">
              <a:buNone/>
            </a:pPr>
            <a:r>
              <a:rPr lang="en-US" sz="1600" b="1" dirty="0">
                <a:solidFill>
                  <a:schemeClr val="tx1"/>
                </a:solidFill>
              </a:rPr>
              <a:t>Three engineering contributions</a:t>
            </a:r>
            <a:endParaRPr lang="en-US" sz="1600" dirty="0"/>
          </a:p>
        </p:txBody>
      </p:sp>
      <p:sp>
        <p:nvSpPr>
          <p:cNvPr id="29" name="Shape 27"/>
          <p:cNvSpPr/>
          <p:nvPr/>
        </p:nvSpPr>
        <p:spPr>
          <a:xfrm>
            <a:off x="548640" y="5029200"/>
            <a:ext cx="3611880" cy="1280160"/>
          </a:xfrm>
          <a:prstGeom prst="roundRect">
            <a:avLst>
              <a:gd name="adj" fmla="val 4286"/>
            </a:avLst>
          </a:prstGeom>
          <a:solidFill>
            <a:schemeClr val="bg2"/>
          </a:solidFill>
          <a:ln w="9525">
            <a:solidFill>
              <a:schemeClr val="accent6"/>
            </a:solidFill>
            <a:prstDash val="solid"/>
          </a:ln>
        </p:spPr>
      </p:sp>
      <p:sp>
        <p:nvSpPr>
          <p:cNvPr id="30" name="Text 28"/>
          <p:cNvSpPr txBox="1"/>
          <p:nvPr/>
        </p:nvSpPr>
        <p:spPr>
          <a:xfrm>
            <a:off x="731520" y="539496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31" name="Text 29"/>
          <p:cNvSpPr txBox="1"/>
          <p:nvPr/>
        </p:nvSpPr>
        <p:spPr>
          <a:xfrm>
            <a:off x="1463040" y="5074920"/>
            <a:ext cx="2560320" cy="1188720"/>
          </a:xfrm>
          <a:prstGeom prst="rect">
            <a:avLst/>
          </a:prstGeom>
          <a:noFill/>
          <a:ln/>
        </p:spPr>
        <p:txBody>
          <a:bodyPr wrap="square" lIns="0" tIns="0" rIns="0" bIns="0" rtlCol="0" anchor="ctr"/>
          <a:lstStyle/>
          <a:p>
            <a:pPr indent="0" marL="0">
              <a:buNone/>
            </a:pPr>
            <a:r>
              <a:rPr lang="en-US" sz="1800" b="1" dirty="0">
                <a:solidFill>
                  <a:schemeClr val="tx1"/>
                </a:solidFill>
              </a:rPr>
              <a:t>TCP Resilience</a:t>
            </a:r>
            <a:endParaRPr lang="en-US" sz="1400" dirty="0"/>
          </a:p>
          <a:p>
            <a:pPr indent="0" marL="0">
              <a:buNone/>
            </a:pPr>
            <a:r>
              <a:rPr lang="en-US" sz="1400" dirty="0">
                <a:solidFill>
                  <a:schemeClr val="tx2"/>
                </a:solidFill>
              </a:rPr>
              <a:t>Reliable Session–Catalog communication</a:t>
            </a:r>
            <a:endParaRPr lang="en-US" sz="1400" dirty="0"/>
          </a:p>
        </p:txBody>
      </p:sp>
      <p:sp>
        <p:nvSpPr>
          <p:cNvPr id="32" name="Shape 30"/>
          <p:cNvSpPr/>
          <p:nvPr/>
        </p:nvSpPr>
        <p:spPr>
          <a:xfrm>
            <a:off x="4343400" y="5029200"/>
            <a:ext cx="3611880" cy="1280160"/>
          </a:xfrm>
          <a:prstGeom prst="roundRect">
            <a:avLst>
              <a:gd name="adj" fmla="val 4286"/>
            </a:avLst>
          </a:prstGeom>
          <a:solidFill>
            <a:schemeClr val="bg2"/>
          </a:solidFill>
          <a:ln w="9525">
            <a:solidFill>
              <a:schemeClr val="accent6"/>
            </a:solidFill>
            <a:prstDash val="solid"/>
          </a:ln>
        </p:spPr>
      </p:sp>
      <p:sp>
        <p:nvSpPr>
          <p:cNvPr id="33" name="Text 31"/>
          <p:cNvSpPr txBox="1"/>
          <p:nvPr/>
        </p:nvSpPr>
        <p:spPr>
          <a:xfrm>
            <a:off x="4526280" y="5394960"/>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34" name="Text 32"/>
          <p:cNvSpPr txBox="1"/>
          <p:nvPr/>
        </p:nvSpPr>
        <p:spPr>
          <a:xfrm>
            <a:off x="5257800" y="5074920"/>
            <a:ext cx="2560320" cy="1188720"/>
          </a:xfrm>
          <a:prstGeom prst="rect">
            <a:avLst/>
          </a:prstGeom>
          <a:noFill/>
          <a:ln/>
        </p:spPr>
        <p:txBody>
          <a:bodyPr wrap="square" lIns="0" tIns="0" rIns="0" bIns="0" rtlCol="0" anchor="ctr"/>
          <a:lstStyle/>
          <a:p>
            <a:pPr indent="0" marL="0">
              <a:buNone/>
            </a:pPr>
            <a:r>
              <a:rPr lang="en-US" sz="1800" b="1" dirty="0">
                <a:solidFill>
                  <a:schemeClr val="tx1"/>
                </a:solidFill>
              </a:rPr>
              <a:t>Catalog Load Balancing</a:t>
            </a:r>
            <a:endParaRPr lang="en-US" sz="1400" dirty="0"/>
          </a:p>
          <a:p>
            <a:pPr indent="0" marL="0">
              <a:buNone/>
            </a:pPr>
            <a:r>
              <a:rPr lang="en-US" sz="1400" dirty="0">
                <a:solidFill>
                  <a:schemeClr val="tx2"/>
                </a:solidFill>
              </a:rPr>
              <a:t>Two Catalog instances behind HAProxy</a:t>
            </a:r>
            <a:endParaRPr lang="en-US" sz="1400" dirty="0"/>
          </a:p>
        </p:txBody>
      </p:sp>
      <p:sp>
        <p:nvSpPr>
          <p:cNvPr id="35" name="Shape 33"/>
          <p:cNvSpPr/>
          <p:nvPr/>
        </p:nvSpPr>
        <p:spPr>
          <a:xfrm>
            <a:off x="8138160" y="5029200"/>
            <a:ext cx="3611880" cy="1280160"/>
          </a:xfrm>
          <a:prstGeom prst="roundRect">
            <a:avLst>
              <a:gd name="adj" fmla="val 4286"/>
            </a:avLst>
          </a:prstGeom>
          <a:solidFill>
            <a:schemeClr val="bg2"/>
          </a:solidFill>
          <a:ln w="9525">
            <a:solidFill>
              <a:schemeClr val="accent6"/>
            </a:solidFill>
            <a:prstDash val="solid"/>
          </a:ln>
        </p:spPr>
      </p:sp>
      <p:sp>
        <p:nvSpPr>
          <p:cNvPr id="36" name="Text 34"/>
          <p:cNvSpPr txBox="1"/>
          <p:nvPr/>
        </p:nvSpPr>
        <p:spPr>
          <a:xfrm>
            <a:off x="8321040" y="5394960"/>
            <a:ext cx="548640" cy="548640"/>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37" name="Text 35"/>
          <p:cNvSpPr txBox="1"/>
          <p:nvPr/>
        </p:nvSpPr>
        <p:spPr>
          <a:xfrm>
            <a:off x="9052560" y="5074920"/>
            <a:ext cx="2560320" cy="1188720"/>
          </a:xfrm>
          <a:prstGeom prst="rect">
            <a:avLst/>
          </a:prstGeom>
          <a:noFill/>
          <a:ln/>
        </p:spPr>
        <p:txBody>
          <a:bodyPr wrap="square" lIns="0" tIns="0" rIns="0" bIns="0" rtlCol="0" anchor="ctr"/>
          <a:lstStyle/>
          <a:p>
            <a:pPr indent="0" marL="0">
              <a:buNone/>
            </a:pPr>
            <a:r>
              <a:rPr lang="en-US" sz="1800" b="1" dirty="0">
                <a:solidFill>
                  <a:schemeClr val="tx1"/>
                </a:solidFill>
              </a:rPr>
              <a:t>Database Replication and Backup/Restore</a:t>
            </a:r>
            <a:endParaRPr lang="en-US" sz="1400" dirty="0"/>
          </a:p>
          <a:p>
            <a:pPr indent="0" marL="0">
              <a:buNone/>
            </a:pPr>
            <a:r>
              <a:rPr lang="en-US" sz="1400" dirty="0">
                <a:solidFill>
                  <a:schemeClr val="tx2"/>
                </a:solidFill>
              </a:rPr>
              <a:t>Primary/replica pairs, logical backups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3200" b="1" dirty="0">
                <a:solidFill>
                  <a:schemeClr val="tx1"/>
                </a:solidFill>
              </a:rPr>
              <a:t>Problem Statement &amp; Objectives</a:t>
            </a:r>
            <a:endParaRPr lang="en-US" sz="3200" dirty="0"/>
          </a:p>
        </p:txBody>
      </p:sp>
      <p:sp>
        <p:nvSpPr>
          <p:cNvPr id="3" name="Shape 1"/>
          <p:cNvSpPr/>
          <p:nvPr/>
        </p:nvSpPr>
        <p:spPr>
          <a:xfrm>
            <a:off x="457200" y="1097280"/>
            <a:ext cx="5120640" cy="3794760"/>
          </a:xfrm>
          <a:prstGeom prst="roundRect">
            <a:avLst>
              <a:gd name="adj" fmla="val 1446"/>
            </a:avLst>
          </a:prstGeom>
          <a:solidFill>
            <a:schemeClr val="bg2"/>
          </a:solidFill>
          <a:ln w="9525">
            <a:solidFill>
              <a:schemeClr val="accent6"/>
            </a:solidFill>
            <a:prstDash val="solid"/>
          </a:ln>
        </p:spPr>
      </p:sp>
      <p:sp>
        <p:nvSpPr>
          <p:cNvPr id="4" name="Text 2"/>
          <p:cNvSpPr txBox="1"/>
          <p:nvPr/>
        </p:nvSpPr>
        <p:spPr>
          <a:xfrm>
            <a:off x="685800" y="1280160"/>
            <a:ext cx="4663440" cy="365760"/>
          </a:xfrm>
          <a:prstGeom prst="rect">
            <a:avLst/>
          </a:prstGeom>
          <a:noFill/>
          <a:ln/>
        </p:spPr>
        <p:txBody>
          <a:bodyPr wrap="square" lIns="0" tIns="0" rIns="0" bIns="0" rtlCol="0" anchor="t"/>
          <a:lstStyle/>
          <a:p>
            <a:pPr indent="0" marL="0">
              <a:buNone/>
            </a:pPr>
            <a:r>
              <a:rPr lang="en-US" sz="2200" b="1" dirty="0">
                <a:solidFill>
                  <a:schemeClr val="accent3"/>
                </a:solidFill>
              </a:rPr>
              <a:t>Problem Statement</a:t>
            </a:r>
            <a:endParaRPr lang="en-US" sz="2200" dirty="0"/>
          </a:p>
        </p:txBody>
      </p:sp>
      <p:sp>
        <p:nvSpPr>
          <p:cNvPr id="5" name="Text 3"/>
          <p:cNvSpPr txBox="1"/>
          <p:nvPr/>
        </p:nvSpPr>
        <p:spPr>
          <a:xfrm>
            <a:off x="685800" y="1828800"/>
            <a:ext cx="4663440" cy="2926080"/>
          </a:xfrm>
          <a:prstGeom prst="rect">
            <a:avLst/>
          </a:prstGeom>
          <a:noFill/>
          <a:ln/>
        </p:spPr>
        <p:txBody>
          <a:bodyPr wrap="square" lIns="0" tIns="0" rIns="0" bIns="0" rtlCol="0" anchor="t"/>
          <a:lstStyle/>
          <a:p>
            <a:pPr marL="203200" indent="-203200">
              <a:spcAft>
                <a:spcPts val="1000"/>
              </a:spcAft>
              <a:buSzPct val="100000"/>
              <a:buChar char="•"/>
            </a:pPr>
            <a:r>
              <a:rPr lang="en-US" sz="1800" dirty="0">
                <a:solidFill>
                  <a:schemeClr val="tx1"/>
                </a:solidFill>
              </a:rPr>
              <a:t>A streaming application depends on multiple services and persistent data stores.</a:t>
            </a:r>
            <a:endParaRPr lang="en-US" sz="1400" dirty="0"/>
          </a:p>
          <a:p>
            <a:pPr marL="203200" indent="-203200">
              <a:spcAft>
                <a:spcPts val="1000"/>
              </a:spcAft>
              <a:buSzPct val="100000"/>
              <a:buChar char="•"/>
            </a:pPr>
            <a:r>
              <a:rPr lang="en-US" sz="1800" dirty="0">
                <a:solidFill>
                  <a:schemeClr val="tx1"/>
                </a:solidFill>
              </a:rPr>
              <a:t>Failures in inter-service communication or backend availability can interrupt operations.</a:t>
            </a:r>
            <a:endParaRPr lang="en-US" sz="1400" dirty="0"/>
          </a:p>
          <a:p>
            <a:pPr marL="203200" indent="-203200">
              <a:spcAft>
                <a:spcPts val="1000"/>
              </a:spcAft>
              <a:buSzPct val="100000"/>
              <a:buChar char="•"/>
            </a:pPr>
            <a:r>
              <a:rPr lang="en-US" sz="1800" dirty="0">
                <a:solidFill>
                  <a:schemeClr val="tx1"/>
                </a:solidFill>
              </a:rPr>
              <a:t>Database replication and backup mechanisms also require careful coordination.</a:t>
            </a:r>
            <a:endParaRPr lang="en-US" sz="1400" dirty="0"/>
          </a:p>
        </p:txBody>
      </p:sp>
      <p:sp>
        <p:nvSpPr>
          <p:cNvPr id="6" name="Shape 4"/>
          <p:cNvSpPr/>
          <p:nvPr/>
        </p:nvSpPr>
        <p:spPr>
          <a:xfrm>
            <a:off x="5852160" y="1097280"/>
            <a:ext cx="5879592" cy="3794760"/>
          </a:xfrm>
          <a:prstGeom prst="roundRect">
            <a:avLst>
              <a:gd name="adj" fmla="val 1446"/>
            </a:avLst>
          </a:prstGeom>
          <a:solidFill>
            <a:schemeClr val="bg2"/>
          </a:solidFill>
          <a:ln w="9525">
            <a:solidFill>
              <a:schemeClr val="accent6"/>
            </a:solidFill>
            <a:prstDash val="solid"/>
          </a:ln>
        </p:spPr>
      </p:sp>
      <p:sp>
        <p:nvSpPr>
          <p:cNvPr id="7" name="Text 5"/>
          <p:cNvSpPr txBox="1"/>
          <p:nvPr/>
        </p:nvSpPr>
        <p:spPr>
          <a:xfrm>
            <a:off x="6080760" y="1280160"/>
            <a:ext cx="5394960" cy="365760"/>
          </a:xfrm>
          <a:prstGeom prst="rect">
            <a:avLst/>
          </a:prstGeom>
          <a:noFill/>
          <a:ln/>
        </p:spPr>
        <p:txBody>
          <a:bodyPr wrap="square" lIns="0" tIns="0" rIns="0" bIns="0" rtlCol="0" anchor="t"/>
          <a:lstStyle/>
          <a:p>
            <a:pPr indent="0" marL="0">
              <a:buNone/>
            </a:pPr>
            <a:r>
              <a:rPr lang="en-US" sz="2200" b="1" dirty="0">
                <a:solidFill>
                  <a:schemeClr val="accent1"/>
                </a:solidFill>
              </a:rPr>
              <a:t>Objectives</a:t>
            </a:r>
            <a:endParaRPr lang="en-US" sz="2200" dirty="0"/>
          </a:p>
        </p:txBody>
      </p:sp>
      <p:sp>
        <p:nvSpPr>
          <p:cNvPr id="8" name="Text 6"/>
          <p:cNvSpPr txBox="1"/>
          <p:nvPr/>
        </p:nvSpPr>
        <p:spPr>
          <a:xfrm>
            <a:off x="6080760" y="1828800"/>
            <a:ext cx="5440680" cy="301752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chemeClr val="tx1"/>
                </a:solidFill>
              </a:rPr>
              <a:t>Separate movie catalog and playback-session responsibilities.</a:t>
            </a:r>
            <a:endParaRPr lang="en-US" sz="1400" dirty="0"/>
          </a:p>
          <a:p>
            <a:pPr marL="203200" indent="-203200">
              <a:spcAft>
                <a:spcPts val="600"/>
              </a:spcAft>
              <a:buSzPct val="100000"/>
              <a:buChar char="•"/>
            </a:pPr>
            <a:r>
              <a:rPr lang="en-US" sz="1800" dirty="0">
                <a:solidFill>
                  <a:schemeClr val="tx1"/>
                </a:solidFill>
              </a:rPr>
              <a:t>Distribute Catalog traffic across two service instances.</a:t>
            </a:r>
            <a:endParaRPr lang="en-US" sz="1400" dirty="0"/>
          </a:p>
          <a:p>
            <a:pPr marL="203200" indent="-203200">
              <a:spcAft>
                <a:spcPts val="600"/>
              </a:spcAft>
              <a:buSzPct val="100000"/>
              <a:buChar char="•"/>
            </a:pPr>
            <a:r>
              <a:rPr lang="en-US" sz="1800" dirty="0">
                <a:solidFill>
                  <a:schemeClr val="tx1"/>
                </a:solidFill>
              </a:rPr>
              <a:t>Improve reliability of TCP-based inter-service communication.</a:t>
            </a:r>
            <a:endParaRPr lang="en-US" sz="1400" dirty="0"/>
          </a:p>
          <a:p>
            <a:pPr marL="203200" indent="-203200">
              <a:spcAft>
                <a:spcPts val="600"/>
              </a:spcAft>
              <a:buSzPct val="100000"/>
              <a:buChar char="•"/>
            </a:pPr>
            <a:r>
              <a:rPr lang="en-US" sz="1800" dirty="0">
                <a:solidFill>
                  <a:schemeClr val="tx1"/>
                </a:solidFill>
              </a:rPr>
              <a:t>Maintain database replicas for both data domains.</a:t>
            </a:r>
            <a:endParaRPr lang="en-US" sz="1400" dirty="0"/>
          </a:p>
          <a:p>
            <a:pPr marL="203200" indent="-203200">
              <a:spcAft>
                <a:spcPts val="600"/>
              </a:spcAft>
              <a:buSzPct val="100000"/>
              <a:buChar char="•"/>
            </a:pPr>
            <a:r>
              <a:rPr lang="en-US" sz="1800" dirty="0">
                <a:solidFill>
                  <a:schemeClr val="tx1"/>
                </a:solidFill>
              </a:rPr>
              <a:t>Support logical database backup and restoration.</a:t>
            </a:r>
            <a:endParaRPr lang="en-US" sz="1400" dirty="0"/>
          </a:p>
          <a:p>
            <a:pPr marL="203200" indent="-203200">
              <a:spcAft>
                <a:spcPts val="600"/>
              </a:spcAft>
              <a:buSzPct val="100000"/>
              <a:buChar char="•"/>
            </a:pPr>
            <a:r>
              <a:rPr lang="en-US" sz="1800" dirty="0">
                <a:solidFill>
                  <a:schemeClr val="tx1"/>
                </a:solidFill>
              </a:rPr>
              <a:t>Provide reproducible deployment using Docker Compose.</a:t>
            </a:r>
            <a:endParaRPr lang="en-US" sz="1400" dirty="0"/>
          </a:p>
        </p:txBody>
      </p:sp>
      <p:sp>
        <p:nvSpPr>
          <p:cNvPr id="9" name="Text 7"/>
          <p:cNvSpPr txBox="1"/>
          <p:nvPr/>
        </p:nvSpPr>
        <p:spPr>
          <a:xfrm>
            <a:off x="457200" y="5166360"/>
            <a:ext cx="3246120" cy="1097280"/>
          </a:xfrm>
          <a:prstGeom prst="roundRect">
            <a:avLst>
              <a:gd name="adj" fmla="val 5000"/>
            </a:avLst>
          </a:prstGeom>
          <a:solidFill>
            <a:schemeClr val="accent3">
              <a:alpha val="10000"/>
            </a:schemeClr>
          </a:solidFill>
          <a:ln w="19050">
            <a:solidFill>
              <a:schemeClr val="accent3"/>
            </a:solidFill>
          </a:ln>
        </p:spPr>
        <p:txBody>
          <a:bodyPr wrap="square" lIns="1905" tIns="1905" rIns="1905" bIns="1905" rtlCol="0" anchor="ctr"/>
          <a:lstStyle/>
          <a:p>
            <a:pPr algn="ctr" indent="0" marL="0">
              <a:buNone/>
            </a:pPr>
            <a:r>
              <a:rPr lang="en-US" sz="1800" b="1" dirty="0">
                <a:solidFill>
                  <a:schemeClr val="tx1"/>
                </a:solidFill>
              </a:rPr>
              <a:t>Distributed Application Challenges</a:t>
            </a:r>
            <a:endParaRPr lang="en-US" sz="1400" dirty="0"/>
          </a:p>
        </p:txBody>
      </p:sp>
      <p:sp>
        <p:nvSpPr>
          <p:cNvPr id="10" name="Shape 8"/>
          <p:cNvSpPr/>
          <p:nvPr/>
        </p:nvSpPr>
        <p:spPr>
          <a:xfrm>
            <a:off x="3749040" y="5715000"/>
            <a:ext cx="685800" cy="0"/>
          </a:xfrm>
          <a:prstGeom prst="line">
            <a:avLst/>
          </a:prstGeom>
          <a:noFill/>
          <a:ln w="28575">
            <a:solidFill>
              <a:schemeClr val="tx2"/>
            </a:solidFill>
            <a:prstDash val="solid"/>
            <a:tailEnd type="triangle"/>
          </a:ln>
        </p:spPr>
      </p:sp>
      <p:sp>
        <p:nvSpPr>
          <p:cNvPr id="11" name="Text 9"/>
          <p:cNvSpPr txBox="1"/>
          <p:nvPr/>
        </p:nvSpPr>
        <p:spPr>
          <a:xfrm>
            <a:off x="4480560" y="5166360"/>
            <a:ext cx="3246120" cy="1097280"/>
          </a:xfrm>
          <a:prstGeom prst="roundRect">
            <a:avLst>
              <a:gd name="adj" fmla="val 5000"/>
            </a:avLst>
          </a:prstGeom>
          <a:solidFill>
            <a:schemeClr val="accent1">
              <a:alpha val="10000"/>
            </a:schemeClr>
          </a:solidFill>
          <a:ln w="19050">
            <a:solidFill>
              <a:schemeClr val="accent1"/>
            </a:solidFill>
          </a:ln>
        </p:spPr>
        <p:txBody>
          <a:bodyPr wrap="square" lIns="1905" tIns="1905" rIns="1905" bIns="1905" rtlCol="0" anchor="ctr"/>
          <a:lstStyle/>
          <a:p>
            <a:pPr algn="ctr" indent="0" marL="0">
              <a:buNone/>
            </a:pPr>
            <a:r>
              <a:rPr lang="en-US" sz="1800" b="1" dirty="0">
                <a:solidFill>
                  <a:schemeClr val="tx1"/>
                </a:solidFill>
              </a:rPr>
              <a:t>Service Separation and Communication</a:t>
            </a:r>
            <a:endParaRPr lang="en-US" sz="1400" dirty="0"/>
          </a:p>
        </p:txBody>
      </p:sp>
      <p:sp>
        <p:nvSpPr>
          <p:cNvPr id="12" name="Shape 10"/>
          <p:cNvSpPr/>
          <p:nvPr/>
        </p:nvSpPr>
        <p:spPr>
          <a:xfrm>
            <a:off x="7772400" y="5715000"/>
            <a:ext cx="685800" cy="0"/>
          </a:xfrm>
          <a:prstGeom prst="line">
            <a:avLst/>
          </a:prstGeom>
          <a:noFill/>
          <a:ln w="28575">
            <a:solidFill>
              <a:schemeClr val="tx2"/>
            </a:solidFill>
            <a:prstDash val="solid"/>
            <a:tailEnd type="triangle"/>
          </a:ln>
        </p:spPr>
      </p:sp>
      <p:sp>
        <p:nvSpPr>
          <p:cNvPr id="13" name="Text 11"/>
          <p:cNvSpPr txBox="1"/>
          <p:nvPr/>
        </p:nvSpPr>
        <p:spPr>
          <a:xfrm>
            <a:off x="8503920" y="5166360"/>
            <a:ext cx="3246120" cy="1097280"/>
          </a:xfrm>
          <a:prstGeom prst="roundRect">
            <a:avLst>
              <a:gd name="adj" fmla="val 5000"/>
            </a:avLst>
          </a:prstGeom>
          <a:solidFill>
            <a:schemeClr val="accent2">
              <a:alpha val="10000"/>
            </a:schemeClr>
          </a:solidFill>
          <a:ln w="19050">
            <a:solidFill>
              <a:schemeClr val="accent2"/>
            </a:solidFill>
          </a:ln>
        </p:spPr>
        <p:txBody>
          <a:bodyPr wrap="square" lIns="1905" tIns="1905" rIns="1905" bIns="1905" rtlCol="0" anchor="ctr"/>
          <a:lstStyle/>
          <a:p>
            <a:pPr algn="ctr" indent="0" marL="0">
              <a:buNone/>
            </a:pPr>
            <a:r>
              <a:rPr lang="en-US" sz="1800" b="1" dirty="0">
                <a:solidFill>
                  <a:schemeClr val="tx1"/>
                </a:solidFill>
              </a:rPr>
              <a:t>Resilience, Load Balancing, Replication, and Recovery</a:t>
            </a:r>
            <a:endParaRPr lang="en-US" sz="14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3200" b="1" dirty="0">
                <a:solidFill>
                  <a:schemeClr val="tx1"/>
                </a:solidFill>
              </a:rPr>
              <a:t>System Architecture</a:t>
            </a:r>
            <a:endParaRPr lang="en-US" sz="3200" dirty="0"/>
          </a:p>
        </p:txBody>
      </p:sp>
      <p:sp>
        <p:nvSpPr>
          <p:cNvPr id="3" name="Shape 1"/>
          <p:cNvSpPr/>
          <p:nvPr/>
        </p:nvSpPr>
        <p:spPr>
          <a:xfrm>
            <a:off x="320040" y="1005840"/>
            <a:ext cx="1828800" cy="5166360"/>
          </a:xfrm>
          <a:prstGeom prst="roundRect">
            <a:avLst>
              <a:gd name="adj" fmla="val 2500"/>
            </a:avLst>
          </a:prstGeom>
          <a:solidFill>
            <a:schemeClr val="bg2"/>
          </a:solidFill>
          <a:ln w="6350">
            <a:solidFill>
              <a:schemeClr val="accent6"/>
            </a:solidFill>
            <a:prstDash val="solid"/>
          </a:ln>
        </p:spPr>
      </p:sp>
      <p:sp>
        <p:nvSpPr>
          <p:cNvPr id="4" name="Text 2"/>
          <p:cNvSpPr txBox="1"/>
          <p:nvPr/>
        </p:nvSpPr>
        <p:spPr>
          <a:xfrm>
            <a:off x="411480" y="1097280"/>
            <a:ext cx="1645920" cy="320040"/>
          </a:xfrm>
          <a:prstGeom prst="rect">
            <a:avLst/>
          </a:prstGeom>
          <a:noFill/>
          <a:ln/>
        </p:spPr>
        <p:txBody>
          <a:bodyPr wrap="square" lIns="0" tIns="0" rIns="0" bIns="0" rtlCol="0" anchor="t"/>
          <a:lstStyle/>
          <a:p>
            <a:pPr indent="0" marL="0">
              <a:buNone/>
            </a:pPr>
            <a:r>
              <a:rPr lang="en-US" sz="1400" b="1" dirty="0">
                <a:solidFill>
                  <a:schemeClr val="tx2"/>
                </a:solidFill>
              </a:rPr>
              <a:t>Presentation Layer</a:t>
            </a:r>
            <a:endParaRPr lang="en-US" sz="1400" dirty="0"/>
          </a:p>
        </p:txBody>
      </p:sp>
      <p:sp>
        <p:nvSpPr>
          <p:cNvPr id="5" name="Shape 3"/>
          <p:cNvSpPr/>
          <p:nvPr/>
        </p:nvSpPr>
        <p:spPr>
          <a:xfrm>
            <a:off x="2834640" y="1005840"/>
            <a:ext cx="1645920" cy="5166360"/>
          </a:xfrm>
          <a:prstGeom prst="roundRect">
            <a:avLst>
              <a:gd name="adj" fmla="val 2778"/>
            </a:avLst>
          </a:prstGeom>
          <a:solidFill>
            <a:schemeClr val="bg2"/>
          </a:solidFill>
          <a:ln w="6350">
            <a:solidFill>
              <a:schemeClr val="accent6"/>
            </a:solidFill>
            <a:prstDash val="solid"/>
          </a:ln>
        </p:spPr>
      </p:sp>
      <p:sp>
        <p:nvSpPr>
          <p:cNvPr id="6" name="Text 4"/>
          <p:cNvSpPr txBox="1"/>
          <p:nvPr/>
        </p:nvSpPr>
        <p:spPr>
          <a:xfrm>
            <a:off x="2926080" y="1097280"/>
            <a:ext cx="1463040" cy="320040"/>
          </a:xfrm>
          <a:prstGeom prst="rect">
            <a:avLst/>
          </a:prstGeom>
          <a:noFill/>
          <a:ln/>
        </p:spPr>
        <p:txBody>
          <a:bodyPr wrap="square" lIns="0" tIns="0" rIns="0" bIns="0" rtlCol="0" anchor="t"/>
          <a:lstStyle/>
          <a:p>
            <a:pPr indent="0" marL="0">
              <a:buNone/>
            </a:pPr>
            <a:r>
              <a:rPr lang="en-US" sz="1400" b="1" dirty="0">
                <a:solidFill>
                  <a:schemeClr val="tx2"/>
                </a:solidFill>
              </a:rPr>
              <a:t>Routing Layer</a:t>
            </a:r>
            <a:endParaRPr lang="en-US" sz="1400" dirty="0"/>
          </a:p>
        </p:txBody>
      </p:sp>
      <p:sp>
        <p:nvSpPr>
          <p:cNvPr id="7" name="Shape 5"/>
          <p:cNvSpPr/>
          <p:nvPr/>
        </p:nvSpPr>
        <p:spPr>
          <a:xfrm>
            <a:off x="4892040" y="1005840"/>
            <a:ext cx="2514600" cy="5166360"/>
          </a:xfrm>
          <a:prstGeom prst="roundRect">
            <a:avLst>
              <a:gd name="adj" fmla="val 1818"/>
            </a:avLst>
          </a:prstGeom>
          <a:solidFill>
            <a:schemeClr val="bg2"/>
          </a:solidFill>
          <a:ln w="6350">
            <a:solidFill>
              <a:schemeClr val="accent6"/>
            </a:solidFill>
            <a:prstDash val="solid"/>
          </a:ln>
        </p:spPr>
      </p:sp>
      <p:sp>
        <p:nvSpPr>
          <p:cNvPr id="8" name="Text 6"/>
          <p:cNvSpPr txBox="1"/>
          <p:nvPr/>
        </p:nvSpPr>
        <p:spPr>
          <a:xfrm>
            <a:off x="4983480" y="1097280"/>
            <a:ext cx="2331720" cy="320040"/>
          </a:xfrm>
          <a:prstGeom prst="rect">
            <a:avLst/>
          </a:prstGeom>
          <a:noFill/>
          <a:ln/>
        </p:spPr>
        <p:txBody>
          <a:bodyPr wrap="square" lIns="0" tIns="0" rIns="0" bIns="0" rtlCol="0" anchor="t"/>
          <a:lstStyle/>
          <a:p>
            <a:pPr indent="0" marL="0">
              <a:buNone/>
            </a:pPr>
            <a:r>
              <a:rPr lang="en-US" sz="1400" b="1" dirty="0">
                <a:solidFill>
                  <a:schemeClr val="tx2"/>
                </a:solidFill>
              </a:rPr>
              <a:t>Application Layer</a:t>
            </a:r>
            <a:endParaRPr lang="en-US" sz="1400" dirty="0"/>
          </a:p>
        </p:txBody>
      </p:sp>
      <p:sp>
        <p:nvSpPr>
          <p:cNvPr id="9" name="Shape 7"/>
          <p:cNvSpPr/>
          <p:nvPr/>
        </p:nvSpPr>
        <p:spPr>
          <a:xfrm>
            <a:off x="7772400" y="1005840"/>
            <a:ext cx="4114800" cy="5166360"/>
          </a:xfrm>
          <a:prstGeom prst="roundRect">
            <a:avLst>
              <a:gd name="adj" fmla="val 1111"/>
            </a:avLst>
          </a:prstGeom>
          <a:solidFill>
            <a:schemeClr val="bg2"/>
          </a:solidFill>
          <a:ln w="6350">
            <a:solidFill>
              <a:schemeClr val="accent6"/>
            </a:solidFill>
            <a:prstDash val="solid"/>
          </a:ln>
        </p:spPr>
      </p:sp>
      <p:sp>
        <p:nvSpPr>
          <p:cNvPr id="10" name="Text 8"/>
          <p:cNvSpPr txBox="1"/>
          <p:nvPr/>
        </p:nvSpPr>
        <p:spPr>
          <a:xfrm>
            <a:off x="7863840" y="1097280"/>
            <a:ext cx="3931920" cy="320040"/>
          </a:xfrm>
          <a:prstGeom prst="rect">
            <a:avLst/>
          </a:prstGeom>
          <a:noFill/>
          <a:ln/>
        </p:spPr>
        <p:txBody>
          <a:bodyPr wrap="square" lIns="0" tIns="0" rIns="0" bIns="0" rtlCol="0" anchor="t"/>
          <a:lstStyle/>
          <a:p>
            <a:pPr indent="0" marL="0">
              <a:buNone/>
            </a:pPr>
            <a:r>
              <a:rPr lang="en-US" sz="1400" b="1" dirty="0">
                <a:solidFill>
                  <a:schemeClr val="tx2"/>
                </a:solidFill>
              </a:rPr>
              <a:t>Data Layer</a:t>
            </a:r>
            <a:endParaRPr lang="en-US" sz="1400" dirty="0"/>
          </a:p>
        </p:txBody>
      </p:sp>
      <p:sp>
        <p:nvSpPr>
          <p:cNvPr id="11" name="Frontend"/>
          <p:cNvSpPr txBox="1"/>
          <p:nvPr/>
        </p:nvSpPr>
        <p:spPr>
          <a:xfrm>
            <a:off x="411480" y="1600200"/>
            <a:ext cx="1554480" cy="4434840"/>
          </a:xfrm>
          <a:prstGeom prst="roundRect">
            <a:avLst>
              <a:gd name="adj" fmla="val 3529"/>
            </a:avLst>
          </a:prstGeom>
          <a:solidFill>
            <a:schemeClr val="bg1"/>
          </a:solidFill>
          <a:ln w="19050">
            <a:solidFill>
              <a:schemeClr val="accent1"/>
            </a:solidFill>
          </a:ln>
        </p:spPr>
        <p:txBody>
          <a:bodyPr wrap="square" lIns="1270" tIns="1270" rIns="1270" bIns="1270" rtlCol="0" anchor="t"/>
          <a:lstStyle/>
          <a:p>
            <a:pPr algn="ctr" indent="0" marL="0">
              <a:buNone/>
            </a:pPr>
            <a:r>
              <a:rPr lang="en-US" sz="1500" b="1" dirty="0">
                <a:solidFill>
                  <a:schemeClr val="tx1"/>
                </a:solidFill>
              </a:rPr>
              <a:t>React Frontend + Nginx</a:t>
            </a:r>
            <a:endParaRPr lang="en-US" sz="1400" dirty="0"/>
          </a:p>
          <a:p>
            <a:pPr algn="ctr" indent="0" marL="0">
              <a:buNone/>
            </a:pPr>
            <a:r>
              <a:rPr lang="en-US" sz="1400" dirty="0">
                <a:solidFill>
                  <a:schemeClr val="tx2"/>
                </a:solidFill>
              </a:rPr>
              <a:t>Host port 3000</a:t>
            </a:r>
            <a:endParaRPr lang="en-US" sz="1400" dirty="0"/>
          </a:p>
          <a:p>
            <a:pPr algn="ctr" indent="0" marL="0">
              <a:buNone/>
            </a:pPr>
            <a:r>
              <a:rPr lang="en-US" sz="1400" dirty="0">
                <a:solidFill>
                  <a:schemeClr val="tx1"/>
                </a:solidFill>
              </a:rPr>
              <a:t>Login</a:t>
            </a:r>
            <a:endParaRPr lang="en-US" sz="1400" dirty="0"/>
          </a:p>
          <a:p>
            <a:pPr algn="ctr" indent="0" marL="0">
              <a:buNone/>
            </a:pPr>
            <a:r>
              <a:rPr lang="en-US" sz="1400" dirty="0">
                <a:solidFill>
                  <a:schemeClr val="tx1"/>
                </a:solidFill>
              </a:rPr>
              <a:t>Movie browsing</a:t>
            </a:r>
            <a:endParaRPr lang="en-US" sz="1400" dirty="0"/>
          </a:p>
          <a:p>
            <a:pPr algn="ctr" indent="0" marL="0">
              <a:buNone/>
            </a:pPr>
            <a:r>
              <a:rPr lang="en-US" sz="1400" dirty="0">
                <a:solidFill>
                  <a:schemeClr val="tx1"/>
                </a:solidFill>
              </a:rPr>
              <a:t>Search</a:t>
            </a:r>
            <a:endParaRPr lang="en-US" sz="1400" dirty="0"/>
          </a:p>
          <a:p>
            <a:pPr algn="ctr" indent="0" marL="0">
              <a:buNone/>
            </a:pPr>
            <a:r>
              <a:rPr lang="en-US" sz="1400" dirty="0">
                <a:solidFill>
                  <a:schemeClr val="tx1"/>
                </a:solidFill>
              </a:rPr>
              <a:t>Movie details</a:t>
            </a:r>
            <a:endParaRPr lang="en-US" sz="1400" dirty="0"/>
          </a:p>
          <a:p>
            <a:pPr algn="ctr" indent="0" marL="0">
              <a:buNone/>
            </a:pPr>
            <a:r>
              <a:rPr lang="en-US" sz="1400" dirty="0">
                <a:solidFill>
                  <a:schemeClr val="tx1"/>
                </a:solidFill>
              </a:rPr>
              <a:t>Playback</a:t>
            </a:r>
            <a:endParaRPr lang="en-US" sz="1400" dirty="0"/>
          </a:p>
          <a:p>
            <a:pPr algn="ctr" indent="0" marL="0">
              <a:buNone/>
            </a:pPr>
            <a:r>
              <a:rPr lang="en-US" sz="1400" dirty="0">
                <a:solidFill>
                  <a:schemeClr val="tx2"/>
                </a:solidFill>
              </a:rPr>
              <a:t>Serves local MP4 assets</a:t>
            </a:r>
            <a:endParaRPr lang="en-US" sz="1400" dirty="0"/>
          </a:p>
        </p:txBody>
      </p:sp>
      <p:sp>
        <p:nvSpPr>
          <p:cNvPr id="12" name="HAProxy"/>
          <p:cNvSpPr txBox="1"/>
          <p:nvPr/>
        </p:nvSpPr>
        <p:spPr>
          <a:xfrm>
            <a:off x="2926080" y="1600200"/>
            <a:ext cx="1463040" cy="2377440"/>
          </a:xfrm>
          <a:prstGeom prst="roundRect">
            <a:avLst>
              <a:gd name="adj" fmla="val 3750"/>
            </a:avLst>
          </a:prstGeom>
          <a:solidFill>
            <a:schemeClr val="bg1"/>
          </a:solidFill>
          <a:ln w="19050">
            <a:solidFill>
              <a:schemeClr val="accent3"/>
            </a:solidFill>
          </a:ln>
        </p:spPr>
        <p:txBody>
          <a:bodyPr wrap="square" lIns="1016" tIns="1016" rIns="1016" bIns="1016" rtlCol="0" anchor="ctr"/>
          <a:lstStyle/>
          <a:p>
            <a:pPr algn="ctr" indent="0" marL="0">
              <a:buNone/>
            </a:pPr>
            <a:r>
              <a:rPr lang="en-US" sz="1500" b="1" dirty="0">
                <a:solidFill>
                  <a:schemeClr val="tx1"/>
                </a:solidFill>
              </a:rPr>
              <a:t>HAProxy</a:t>
            </a:r>
            <a:endParaRPr lang="en-US" sz="1400" dirty="0"/>
          </a:p>
          <a:p>
            <a:pPr algn="ctr" indent="0" marL="0">
              <a:buNone/>
            </a:pPr>
            <a:r>
              <a:rPr lang="en-US" sz="1400" dirty="0">
                <a:solidFill>
                  <a:schemeClr val="tx1"/>
                </a:solidFill>
              </a:rPr>
              <a:t>Port 8000: Catalog HTTP / WebSocket</a:t>
            </a:r>
            <a:endParaRPr lang="en-US" sz="1400" dirty="0"/>
          </a:p>
          <a:p>
            <a:pPr algn="ctr" indent="0" marL="0">
              <a:buNone/>
            </a:pPr>
            <a:r>
              <a:rPr lang="en-US" sz="1400" dirty="0">
                <a:solidFill>
                  <a:schemeClr val="tx1"/>
                </a:solidFill>
              </a:rPr>
              <a:t>Port 9002: Catalog raw TCP</a:t>
            </a:r>
            <a:endParaRPr lang="en-US" sz="1400" dirty="0"/>
          </a:p>
        </p:txBody>
      </p:sp>
      <p:sp>
        <p:nvSpPr>
          <p:cNvPr id="13" name="Text 11"/>
          <p:cNvSpPr txBox="1"/>
          <p:nvPr/>
        </p:nvSpPr>
        <p:spPr>
          <a:xfrm>
            <a:off x="4983480" y="1600200"/>
            <a:ext cx="2331720" cy="1097280"/>
          </a:xfrm>
          <a:prstGeom prst="roundRect">
            <a:avLst>
              <a:gd name="adj" fmla="val 5000"/>
            </a:avLst>
          </a:prstGeom>
          <a:solidFill>
            <a:schemeClr val="bg1"/>
          </a:solidFill>
          <a:ln w="19050">
            <a:solidFill>
              <a:schemeClr val="accent2"/>
            </a:solidFill>
          </a:ln>
        </p:spPr>
        <p:txBody>
          <a:bodyPr wrap="square" lIns="762" tIns="762" rIns="762" bIns="762" rtlCol="0" anchor="ctr"/>
          <a:lstStyle/>
          <a:p>
            <a:pPr algn="ctr" indent="0" marL="0">
              <a:buNone/>
            </a:pPr>
            <a:r>
              <a:rPr lang="en-US" sz="1500" b="1" dirty="0">
                <a:solidFill>
                  <a:schemeClr val="tx1"/>
                </a:solidFill>
              </a:rPr>
              <a:t>movie_catalog_1</a:t>
            </a:r>
            <a:endParaRPr lang="en-US" sz="1400" dirty="0"/>
          </a:p>
          <a:p>
            <a:pPr algn="ctr" indent="0" marL="0">
              <a:buNone/>
            </a:pPr>
            <a:r>
              <a:rPr lang="en-US" sz="1400" dirty="0">
                <a:solidFill>
                  <a:schemeClr val="tx1"/>
                </a:solidFill>
              </a:rPr>
              <a:t>HTTP Catalog endpoints</a:t>
            </a:r>
            <a:endParaRPr lang="en-US" sz="1400" dirty="0"/>
          </a:p>
          <a:p>
            <a:pPr algn="ctr" indent="0" marL="0">
              <a:buNone/>
            </a:pPr>
            <a:r>
              <a:rPr lang="en-US" sz="1400" dirty="0">
                <a:solidFill>
                  <a:schemeClr val="tx1"/>
                </a:solidFill>
              </a:rPr>
              <a:t>Read-only WebSocket</a:t>
            </a:r>
            <a:endParaRPr lang="en-US" sz="1400" dirty="0"/>
          </a:p>
          <a:p>
            <a:pPr algn="ctr" indent="0" marL="0">
              <a:buNone/>
            </a:pPr>
            <a:r>
              <a:rPr lang="en-US" sz="1400" dirty="0">
                <a:solidFill>
                  <a:schemeClr val="tx1"/>
                </a:solidFill>
              </a:rPr>
              <a:t>Raw TCP metadata server</a:t>
            </a:r>
            <a:endParaRPr lang="en-US" sz="1400" dirty="0"/>
          </a:p>
        </p:txBody>
      </p:sp>
      <p:sp>
        <p:nvSpPr>
          <p:cNvPr id="14" name="Text 12"/>
          <p:cNvSpPr txBox="1"/>
          <p:nvPr/>
        </p:nvSpPr>
        <p:spPr>
          <a:xfrm>
            <a:off x="4983480" y="2880360"/>
            <a:ext cx="2331720" cy="1097280"/>
          </a:xfrm>
          <a:prstGeom prst="roundRect">
            <a:avLst>
              <a:gd name="adj" fmla="val 5000"/>
            </a:avLst>
          </a:prstGeom>
          <a:solidFill>
            <a:schemeClr val="bg1"/>
          </a:solidFill>
          <a:ln w="19050">
            <a:solidFill>
              <a:schemeClr val="accent2"/>
            </a:solidFill>
          </a:ln>
        </p:spPr>
        <p:txBody>
          <a:bodyPr wrap="square" lIns="762" tIns="762" rIns="762" bIns="762" rtlCol="0" anchor="ctr"/>
          <a:lstStyle/>
          <a:p>
            <a:pPr algn="ctr" indent="0" marL="0">
              <a:buNone/>
            </a:pPr>
            <a:r>
              <a:rPr lang="en-US" sz="1500" b="1" dirty="0">
                <a:solidFill>
                  <a:schemeClr val="tx1"/>
                </a:solidFill>
              </a:rPr>
              <a:t>movie_catalog_2</a:t>
            </a:r>
            <a:endParaRPr lang="en-US" sz="1400" dirty="0"/>
          </a:p>
          <a:p>
            <a:pPr algn="ctr" indent="0" marL="0">
              <a:buNone/>
            </a:pPr>
            <a:r>
              <a:rPr lang="en-US" sz="1400" dirty="0">
                <a:solidFill>
                  <a:schemeClr val="tx1"/>
                </a:solidFill>
              </a:rPr>
              <a:t>HTTP Catalog endpoints</a:t>
            </a:r>
            <a:endParaRPr lang="en-US" sz="1400" dirty="0"/>
          </a:p>
          <a:p>
            <a:pPr algn="ctr" indent="0" marL="0">
              <a:buNone/>
            </a:pPr>
            <a:r>
              <a:rPr lang="en-US" sz="1400" dirty="0">
                <a:solidFill>
                  <a:schemeClr val="tx1"/>
                </a:solidFill>
              </a:rPr>
              <a:t>Read-only WebSocket</a:t>
            </a:r>
            <a:endParaRPr lang="en-US" sz="1400" dirty="0"/>
          </a:p>
          <a:p>
            <a:pPr algn="ctr" indent="0" marL="0">
              <a:buNone/>
            </a:pPr>
            <a:r>
              <a:rPr lang="en-US" sz="1400" dirty="0">
                <a:solidFill>
                  <a:schemeClr val="tx1"/>
                </a:solidFill>
              </a:rPr>
              <a:t>Raw TCP metadata server</a:t>
            </a:r>
            <a:endParaRPr lang="en-US" sz="1400" dirty="0"/>
          </a:p>
        </p:txBody>
      </p:sp>
      <p:sp>
        <p:nvSpPr>
          <p:cNvPr id="15" name="Session service"/>
          <p:cNvSpPr txBox="1"/>
          <p:nvPr/>
        </p:nvSpPr>
        <p:spPr>
          <a:xfrm>
            <a:off x="4983480" y="4480560"/>
            <a:ext cx="2331720" cy="1554480"/>
          </a:xfrm>
          <a:prstGeom prst="roundRect">
            <a:avLst>
              <a:gd name="adj" fmla="val 3529"/>
            </a:avLst>
          </a:prstGeom>
          <a:solidFill>
            <a:schemeClr val="bg1"/>
          </a:solidFill>
          <a:ln w="19050">
            <a:solidFill>
              <a:schemeClr val="accent2"/>
            </a:solidFill>
          </a:ln>
        </p:spPr>
        <p:txBody>
          <a:bodyPr wrap="square" lIns="762" tIns="762" rIns="762" bIns="762" rtlCol="0" anchor="ctr"/>
          <a:lstStyle/>
          <a:p>
            <a:pPr algn="ctr" indent="0" marL="0">
              <a:buNone/>
            </a:pPr>
            <a:r>
              <a:rPr lang="en-US" sz="1500" b="1" dirty="0">
                <a:solidFill>
                  <a:schemeClr val="tx1"/>
                </a:solidFill>
              </a:rPr>
              <a:t>Streaming Session Service</a:t>
            </a:r>
            <a:endParaRPr lang="en-US" sz="1400" dirty="0"/>
          </a:p>
          <a:p>
            <a:pPr algn="ctr" indent="0" marL="0">
              <a:buNone/>
            </a:pPr>
            <a:r>
              <a:rPr lang="en-US" sz="1400" dirty="0">
                <a:solidFill>
                  <a:schemeClr val="tx2"/>
                </a:solidFill>
              </a:rPr>
              <a:t>Port 8001</a:t>
            </a:r>
            <a:endParaRPr lang="en-US" sz="1400" dirty="0"/>
          </a:p>
          <a:p>
            <a:pPr algn="ctr" indent="0" marL="0">
              <a:buNone/>
            </a:pPr>
            <a:r>
              <a:rPr lang="en-US" sz="1400" dirty="0">
                <a:solidFill>
                  <a:schemeClr val="tx1"/>
                </a:solidFill>
              </a:rPr>
              <a:t>HTTP registration and login</a:t>
            </a:r>
            <a:endParaRPr lang="en-US" sz="1400" dirty="0"/>
          </a:p>
          <a:p>
            <a:pPr algn="ctr" indent="0" marL="0">
              <a:buNone/>
            </a:pPr>
            <a:r>
              <a:rPr lang="en-US" sz="1400" dirty="0">
                <a:solidFill>
                  <a:schemeClr val="tx1"/>
                </a:solidFill>
              </a:rPr>
              <a:t>Authenticated WebSocket: sessions, progress</a:t>
            </a:r>
            <a:endParaRPr lang="en-US" sz="1400" dirty="0"/>
          </a:p>
          <a:p>
            <a:pPr algn="ctr" indent="0" marL="0">
              <a:buNone/>
            </a:pPr>
            <a:r>
              <a:rPr lang="en-US" sz="1400" dirty="0">
                <a:solidFill>
                  <a:schemeClr val="tx1"/>
                </a:solidFill>
              </a:rPr>
              <a:t>Metadata via Catalog raw TCP</a:t>
            </a:r>
            <a:endParaRPr lang="en-US" sz="1400" dirty="0"/>
          </a:p>
        </p:txBody>
      </p:sp>
      <p:sp>
        <p:nvSpPr>
          <p:cNvPr id="16" name="Text 14"/>
          <p:cNvSpPr txBox="1"/>
          <p:nvPr/>
        </p:nvSpPr>
        <p:spPr>
          <a:xfrm>
            <a:off x="7863840" y="1600200"/>
            <a:ext cx="1737360" cy="1005840"/>
          </a:xfrm>
          <a:prstGeom prst="roundRect">
            <a:avLst>
              <a:gd name="adj" fmla="val 5455"/>
            </a:avLst>
          </a:prstGeom>
          <a:solidFill>
            <a:schemeClr val="bg1"/>
          </a:solidFill>
          <a:ln w="19050">
            <a:solidFill>
              <a:schemeClr val="accent4"/>
            </a:solidFill>
          </a:ln>
        </p:spPr>
        <p:txBody>
          <a:bodyPr wrap="square" lIns="762" tIns="762" rIns="762" bIns="762" rtlCol="0" anchor="ctr"/>
          <a:lstStyle/>
          <a:p>
            <a:pPr algn="ctr" indent="0" marL="0">
              <a:buNone/>
            </a:pPr>
            <a:r>
              <a:rPr lang="en-US" sz="1400" b="1" dirty="0">
                <a:solidFill>
                  <a:schemeClr val="tx1"/>
                </a:solidFill>
              </a:rPr>
              <a:t>Movies PostgreSQL</a:t>
            </a:r>
            <a:endParaRPr lang="en-US" sz="1400" dirty="0"/>
          </a:p>
          <a:p>
            <a:pPr algn="ctr" indent="0" marL="0">
              <a:buNone/>
            </a:pPr>
            <a:r>
              <a:rPr lang="en-US" sz="1400" dirty="0">
                <a:solidFill>
                  <a:schemeClr val="tx2"/>
                </a:solidFill>
              </a:rPr>
              <a:t>Primary</a:t>
            </a:r>
            <a:endParaRPr lang="en-US" sz="1400" dirty="0"/>
          </a:p>
        </p:txBody>
      </p:sp>
      <p:sp>
        <p:nvSpPr>
          <p:cNvPr id="17" name="Text 15"/>
          <p:cNvSpPr txBox="1"/>
          <p:nvPr/>
        </p:nvSpPr>
        <p:spPr>
          <a:xfrm>
            <a:off x="10058400" y="1600200"/>
            <a:ext cx="1737360" cy="1005840"/>
          </a:xfrm>
          <a:prstGeom prst="roundRect">
            <a:avLst>
              <a:gd name="adj" fmla="val 5455"/>
            </a:avLst>
          </a:prstGeom>
          <a:solidFill>
            <a:schemeClr val="bg1"/>
          </a:solidFill>
          <a:ln w="19050">
            <a:solidFill>
              <a:schemeClr val="accent4"/>
            </a:solidFill>
          </a:ln>
        </p:spPr>
        <p:txBody>
          <a:bodyPr wrap="square" lIns="762" tIns="762" rIns="762" bIns="762" rtlCol="0" anchor="ctr"/>
          <a:lstStyle/>
          <a:p>
            <a:pPr algn="ctr" indent="0" marL="0">
              <a:buNone/>
            </a:pPr>
            <a:r>
              <a:rPr lang="en-US" sz="1400" b="1" dirty="0">
                <a:solidFill>
                  <a:schemeClr val="tx1"/>
                </a:solidFill>
              </a:rPr>
              <a:t>Movies PostgreSQL</a:t>
            </a:r>
            <a:endParaRPr lang="en-US" sz="1400" dirty="0"/>
          </a:p>
          <a:p>
            <a:pPr algn="ctr" indent="0" marL="0">
              <a:buNone/>
            </a:pPr>
            <a:r>
              <a:rPr lang="en-US" sz="1400" dirty="0">
                <a:solidFill>
                  <a:schemeClr val="tx2"/>
                </a:solidFill>
              </a:rPr>
              <a:t>Read-only replica (async WAL)</a:t>
            </a:r>
            <a:endParaRPr lang="en-US" sz="1400" dirty="0"/>
          </a:p>
        </p:txBody>
      </p:sp>
      <p:sp>
        <p:nvSpPr>
          <p:cNvPr id="18" name="Text 16"/>
          <p:cNvSpPr txBox="1"/>
          <p:nvPr/>
        </p:nvSpPr>
        <p:spPr>
          <a:xfrm>
            <a:off x="7863840" y="4892040"/>
            <a:ext cx="1737360" cy="1005840"/>
          </a:xfrm>
          <a:prstGeom prst="roundRect">
            <a:avLst>
              <a:gd name="adj" fmla="val 5455"/>
            </a:avLst>
          </a:prstGeom>
          <a:solidFill>
            <a:schemeClr val="bg1"/>
          </a:solidFill>
          <a:ln w="19050">
            <a:solidFill>
              <a:schemeClr val="accent4"/>
            </a:solidFill>
          </a:ln>
        </p:spPr>
        <p:txBody>
          <a:bodyPr wrap="square" lIns="762" tIns="762" rIns="762" bIns="762" rtlCol="0" anchor="ctr"/>
          <a:lstStyle/>
          <a:p>
            <a:pPr algn="ctr" indent="0" marL="0">
              <a:buNone/>
            </a:pPr>
            <a:r>
              <a:rPr lang="en-US" sz="1400" b="1" dirty="0">
                <a:solidFill>
                  <a:schemeClr val="tx1"/>
                </a:solidFill>
              </a:rPr>
              <a:t>Sessions PostgreSQL</a:t>
            </a:r>
            <a:endParaRPr lang="en-US" sz="1400" dirty="0"/>
          </a:p>
          <a:p>
            <a:pPr algn="ctr" indent="0" marL="0">
              <a:buNone/>
            </a:pPr>
            <a:r>
              <a:rPr lang="en-US" sz="1400" dirty="0">
                <a:solidFill>
                  <a:schemeClr val="tx2"/>
                </a:solidFill>
              </a:rPr>
              <a:t>Primary</a:t>
            </a:r>
            <a:endParaRPr lang="en-US" sz="1400" dirty="0"/>
          </a:p>
        </p:txBody>
      </p:sp>
      <p:sp>
        <p:nvSpPr>
          <p:cNvPr id="19" name="Text 17"/>
          <p:cNvSpPr txBox="1"/>
          <p:nvPr/>
        </p:nvSpPr>
        <p:spPr>
          <a:xfrm>
            <a:off x="10058400" y="4892040"/>
            <a:ext cx="1737360" cy="1005840"/>
          </a:xfrm>
          <a:prstGeom prst="roundRect">
            <a:avLst>
              <a:gd name="adj" fmla="val 5455"/>
            </a:avLst>
          </a:prstGeom>
          <a:solidFill>
            <a:schemeClr val="bg1"/>
          </a:solidFill>
          <a:ln w="19050">
            <a:solidFill>
              <a:schemeClr val="accent4"/>
            </a:solidFill>
          </a:ln>
        </p:spPr>
        <p:txBody>
          <a:bodyPr wrap="square" lIns="762" tIns="762" rIns="762" bIns="762" rtlCol="0" anchor="ctr"/>
          <a:lstStyle/>
          <a:p>
            <a:pPr algn="ctr" indent="0" marL="0">
              <a:buNone/>
            </a:pPr>
            <a:r>
              <a:rPr lang="en-US" sz="1400" b="1" dirty="0">
                <a:solidFill>
                  <a:schemeClr val="tx1"/>
                </a:solidFill>
              </a:rPr>
              <a:t>Sessions PostgreSQL</a:t>
            </a:r>
            <a:endParaRPr lang="en-US" sz="1400" dirty="0"/>
          </a:p>
          <a:p>
            <a:pPr algn="ctr" indent="0" marL="0">
              <a:buNone/>
            </a:pPr>
            <a:r>
              <a:rPr lang="en-US" sz="1400" dirty="0">
                <a:solidFill>
                  <a:schemeClr val="tx2"/>
                </a:solidFill>
              </a:rPr>
              <a:t>Read-only replica (async WAL)</a:t>
            </a:r>
            <a:endParaRPr lang="en-US" sz="1400" dirty="0"/>
          </a:p>
        </p:txBody>
      </p:sp>
      <p:sp>
        <p:nvSpPr>
          <p:cNvPr id="20" name="Text 18"/>
          <p:cNvSpPr txBox="1"/>
          <p:nvPr/>
        </p:nvSpPr>
        <p:spPr>
          <a:xfrm>
            <a:off x="7863840" y="3154680"/>
            <a:ext cx="1737360" cy="1188720"/>
          </a:xfrm>
          <a:prstGeom prst="roundRect">
            <a:avLst>
              <a:gd name="adj" fmla="val 4615"/>
            </a:avLst>
          </a:prstGeom>
          <a:solidFill>
            <a:schemeClr val="bg1"/>
          </a:solidFill>
          <a:ln w="19050">
            <a:solidFill>
              <a:schemeClr val="accent5"/>
            </a:solidFill>
            <a:prstDash val="sysDot"/>
          </a:ln>
        </p:spPr>
        <p:txBody>
          <a:bodyPr wrap="square" lIns="762" tIns="762" rIns="762" bIns="762" rtlCol="0" anchor="ctr"/>
          <a:lstStyle/>
          <a:p>
            <a:pPr algn="ctr" indent="0" marL="0">
              <a:buNone/>
            </a:pPr>
            <a:r>
              <a:rPr lang="en-US" sz="1400" b="1" dirty="0">
                <a:solidFill>
                  <a:schemeClr val="tx1"/>
                </a:solidFill>
              </a:rPr>
              <a:t>On-Demand Backup Job</a:t>
            </a:r>
            <a:endParaRPr lang="en-US" sz="1400" dirty="0"/>
          </a:p>
          <a:p>
            <a:pPr algn="ctr" indent="0" marL="0">
              <a:buNone/>
            </a:pPr>
            <a:r>
              <a:rPr lang="en-US" sz="1400" dirty="0">
                <a:solidFill>
                  <a:schemeClr val="tx1"/>
                </a:solidFill>
              </a:rPr>
              <a:t>Logical backups of both primaries</a:t>
            </a:r>
            <a:endParaRPr lang="en-US" sz="1400" dirty="0"/>
          </a:p>
        </p:txBody>
      </p:sp>
      <p:sp>
        <p:nvSpPr>
          <p:cNvPr id="21" name="Text 19"/>
          <p:cNvSpPr txBox="1"/>
          <p:nvPr/>
        </p:nvSpPr>
        <p:spPr>
          <a:xfrm>
            <a:off x="10058400" y="3154680"/>
            <a:ext cx="1737360" cy="1188720"/>
          </a:xfrm>
          <a:prstGeom prst="roundRect">
            <a:avLst>
              <a:gd name="adj" fmla="val 4615"/>
            </a:avLst>
          </a:prstGeom>
          <a:solidFill>
            <a:schemeClr val="bg1"/>
          </a:solidFill>
          <a:ln w="19050">
            <a:solidFill>
              <a:schemeClr val="accent5"/>
            </a:solidFill>
            <a:prstDash val="sysDot"/>
          </a:ln>
        </p:spPr>
        <p:txBody>
          <a:bodyPr wrap="square" lIns="762" tIns="762" rIns="762" bIns="762" rtlCol="0" anchor="ctr"/>
          <a:lstStyle/>
          <a:p>
            <a:pPr algn="ctr" indent="0" marL="0">
              <a:buNone/>
            </a:pPr>
            <a:r>
              <a:rPr lang="en-US" sz="1400" b="1" dirty="0">
                <a:solidFill>
                  <a:schemeClr val="tx1"/>
                </a:solidFill>
              </a:rPr>
              <a:t>Persistent Docker volume</a:t>
            </a:r>
            <a:endParaRPr lang="en-US" sz="1400" dirty="0"/>
          </a:p>
          <a:p>
            <a:pPr algn="ctr" indent="0" marL="0">
              <a:buNone/>
            </a:pPr>
            <a:r>
              <a:rPr lang="en-US" sz="1400" dirty="0">
                <a:solidFill>
                  <a:schemeClr val="tx1"/>
                </a:solidFill>
              </a:rPr>
              <a:t>Compressed backup files</a:t>
            </a:r>
            <a:endParaRPr lang="en-US" sz="1400" dirty="0"/>
          </a:p>
        </p:txBody>
      </p:sp>
      <p:sp>
        <p:nvSpPr>
          <p:cNvPr id="22" name="Shape 20"/>
          <p:cNvSpPr/>
          <p:nvPr/>
        </p:nvSpPr>
        <p:spPr>
          <a:xfrm>
            <a:off x="1965960" y="1874520"/>
            <a:ext cx="960120" cy="0"/>
          </a:xfrm>
          <a:prstGeom prst="line">
            <a:avLst/>
          </a:prstGeom>
          <a:noFill/>
          <a:ln w="28575">
            <a:solidFill>
              <a:schemeClr val="accent2"/>
            </a:solidFill>
            <a:prstDash val="solid"/>
            <a:tailEnd type="triangle"/>
          </a:ln>
        </p:spPr>
      </p:sp>
      <p:sp>
        <p:nvSpPr>
          <p:cNvPr id="23" name="Text 21"/>
          <p:cNvSpPr txBox="1"/>
          <p:nvPr/>
        </p:nvSpPr>
        <p:spPr>
          <a:xfrm>
            <a:off x="2011680" y="1609344"/>
            <a:ext cx="914400" cy="237744"/>
          </a:xfrm>
          <a:prstGeom prst="rect">
            <a:avLst/>
          </a:prstGeom>
          <a:noFill/>
          <a:ln/>
        </p:spPr>
        <p:txBody>
          <a:bodyPr wrap="square" lIns="0" tIns="0" rIns="0" bIns="0" rtlCol="0" anchor="t"/>
          <a:lstStyle/>
          <a:p>
            <a:pPr algn="ctr" indent="0" marL="0">
              <a:buNone/>
            </a:pPr>
            <a:r>
              <a:rPr lang="en-US" sz="1400" dirty="0">
                <a:solidFill>
                  <a:schemeClr val="accent2"/>
                </a:solidFill>
              </a:rPr>
              <a:t>WebSocket</a:t>
            </a:r>
            <a:endParaRPr lang="en-US" sz="1400" dirty="0"/>
          </a:p>
        </p:txBody>
      </p:sp>
      <p:sp>
        <p:nvSpPr>
          <p:cNvPr id="24" name="Shape 22"/>
          <p:cNvSpPr/>
          <p:nvPr/>
        </p:nvSpPr>
        <p:spPr>
          <a:xfrm>
            <a:off x="4389120" y="1874520"/>
            <a:ext cx="594360" cy="0"/>
          </a:xfrm>
          <a:prstGeom prst="line">
            <a:avLst/>
          </a:prstGeom>
          <a:noFill/>
          <a:ln w="28575">
            <a:solidFill>
              <a:schemeClr val="accent2"/>
            </a:solidFill>
            <a:prstDash val="solid"/>
            <a:tailEnd type="triangle"/>
          </a:ln>
        </p:spPr>
      </p:sp>
      <p:sp>
        <p:nvSpPr>
          <p:cNvPr id="25" name="Shape 23"/>
          <p:cNvSpPr/>
          <p:nvPr/>
        </p:nvSpPr>
        <p:spPr>
          <a:xfrm>
            <a:off x="4389120" y="3108960"/>
            <a:ext cx="594360" cy="0"/>
          </a:xfrm>
          <a:prstGeom prst="line">
            <a:avLst/>
          </a:prstGeom>
          <a:noFill/>
          <a:ln w="28575">
            <a:solidFill>
              <a:schemeClr val="accent2"/>
            </a:solidFill>
            <a:prstDash val="solid"/>
            <a:tailEnd type="triangle"/>
          </a:ln>
        </p:spPr>
      </p:sp>
      <p:sp>
        <p:nvSpPr>
          <p:cNvPr id="26" name="Shape 24"/>
          <p:cNvSpPr/>
          <p:nvPr/>
        </p:nvSpPr>
        <p:spPr>
          <a:xfrm>
            <a:off x="4389120" y="2286000"/>
            <a:ext cx="594360" cy="0"/>
          </a:xfrm>
          <a:prstGeom prst="line">
            <a:avLst/>
          </a:prstGeom>
          <a:noFill/>
          <a:ln w="34925">
            <a:solidFill>
              <a:schemeClr val="accent3"/>
            </a:solidFill>
            <a:prstDash val="solid"/>
            <a:tailEnd type="triangle"/>
          </a:ln>
        </p:spPr>
      </p:sp>
      <p:sp>
        <p:nvSpPr>
          <p:cNvPr id="27" name="Shape 25"/>
          <p:cNvSpPr/>
          <p:nvPr/>
        </p:nvSpPr>
        <p:spPr>
          <a:xfrm>
            <a:off x="4389120" y="3520440"/>
            <a:ext cx="594360" cy="0"/>
          </a:xfrm>
          <a:prstGeom prst="line">
            <a:avLst/>
          </a:prstGeom>
          <a:noFill/>
          <a:ln w="34925">
            <a:solidFill>
              <a:schemeClr val="accent3"/>
            </a:solidFill>
            <a:prstDash val="solid"/>
            <a:tailEnd type="triangle"/>
          </a:ln>
        </p:spPr>
      </p:sp>
      <p:sp>
        <p:nvSpPr>
          <p:cNvPr id="28" name="Shape 26"/>
          <p:cNvSpPr/>
          <p:nvPr/>
        </p:nvSpPr>
        <p:spPr>
          <a:xfrm>
            <a:off x="1965960" y="5074920"/>
            <a:ext cx="3017520" cy="0"/>
          </a:xfrm>
          <a:prstGeom prst="line">
            <a:avLst/>
          </a:prstGeom>
          <a:noFill/>
          <a:ln w="28575">
            <a:solidFill>
              <a:schemeClr val="accent1"/>
            </a:solidFill>
            <a:prstDash val="solid"/>
            <a:tailEnd type="triangle"/>
          </a:ln>
        </p:spPr>
      </p:sp>
      <p:sp>
        <p:nvSpPr>
          <p:cNvPr id="29" name="Text 27"/>
          <p:cNvSpPr txBox="1"/>
          <p:nvPr/>
        </p:nvSpPr>
        <p:spPr>
          <a:xfrm>
            <a:off x="2194560" y="4809744"/>
            <a:ext cx="2743200" cy="237744"/>
          </a:xfrm>
          <a:prstGeom prst="rect">
            <a:avLst/>
          </a:prstGeom>
          <a:noFill/>
          <a:ln/>
        </p:spPr>
        <p:txBody>
          <a:bodyPr wrap="square" lIns="0" tIns="0" rIns="0" bIns="0" rtlCol="0" anchor="t"/>
          <a:lstStyle/>
          <a:p>
            <a:pPr indent="0" marL="0">
              <a:buNone/>
            </a:pPr>
            <a:r>
              <a:rPr lang="en-US" sz="1400" dirty="0">
                <a:solidFill>
                  <a:schemeClr val="accent1"/>
                </a:solidFill>
              </a:rPr>
              <a:t>HTTP: login</a:t>
            </a:r>
            <a:endParaRPr lang="en-US" sz="1400" dirty="0"/>
          </a:p>
        </p:txBody>
      </p:sp>
      <p:sp>
        <p:nvSpPr>
          <p:cNvPr id="30" name="Shape 28"/>
          <p:cNvSpPr/>
          <p:nvPr/>
        </p:nvSpPr>
        <p:spPr>
          <a:xfrm>
            <a:off x="1965960" y="5532120"/>
            <a:ext cx="3017520" cy="0"/>
          </a:xfrm>
          <a:prstGeom prst="line">
            <a:avLst/>
          </a:prstGeom>
          <a:noFill/>
          <a:ln w="28575">
            <a:solidFill>
              <a:schemeClr val="accent2"/>
            </a:solidFill>
            <a:prstDash val="solid"/>
            <a:tailEnd type="triangle"/>
          </a:ln>
        </p:spPr>
      </p:sp>
      <p:sp>
        <p:nvSpPr>
          <p:cNvPr id="31" name="Text 29"/>
          <p:cNvSpPr txBox="1"/>
          <p:nvPr/>
        </p:nvSpPr>
        <p:spPr>
          <a:xfrm>
            <a:off x="2194560" y="5266944"/>
            <a:ext cx="2743200" cy="237744"/>
          </a:xfrm>
          <a:prstGeom prst="rect">
            <a:avLst/>
          </a:prstGeom>
          <a:noFill/>
          <a:ln/>
        </p:spPr>
        <p:txBody>
          <a:bodyPr wrap="square" lIns="0" tIns="0" rIns="0" bIns="0" rtlCol="0" anchor="t"/>
          <a:lstStyle/>
          <a:p>
            <a:pPr indent="0" marL="0">
              <a:buNone/>
            </a:pPr>
            <a:r>
              <a:rPr lang="en-US" sz="1400" dirty="0">
                <a:solidFill>
                  <a:schemeClr val="accent2"/>
                </a:solidFill>
              </a:rPr>
              <a:t>WebSocket: session operations</a:t>
            </a:r>
            <a:endParaRPr lang="en-US" sz="1400" dirty="0"/>
          </a:p>
        </p:txBody>
      </p:sp>
      <p:sp>
        <p:nvSpPr>
          <p:cNvPr id="32" name="Shape 30"/>
          <p:cNvSpPr/>
          <p:nvPr/>
        </p:nvSpPr>
        <p:spPr>
          <a:xfrm flipH="1">
            <a:off x="3657600" y="4617720"/>
            <a:ext cx="1325880" cy="0"/>
          </a:xfrm>
          <a:prstGeom prst="line">
            <a:avLst/>
          </a:prstGeom>
          <a:noFill/>
          <a:ln w="34925">
            <a:solidFill>
              <a:schemeClr val="accent3"/>
            </a:solidFill>
            <a:prstDash val="solid"/>
          </a:ln>
        </p:spPr>
      </p:sp>
      <p:sp>
        <p:nvSpPr>
          <p:cNvPr id="33" name="Shape 31"/>
          <p:cNvSpPr/>
          <p:nvPr/>
        </p:nvSpPr>
        <p:spPr>
          <a:xfrm flipV="1">
            <a:off x="3657600" y="3977640"/>
            <a:ext cx="0" cy="640080"/>
          </a:xfrm>
          <a:prstGeom prst="line">
            <a:avLst/>
          </a:prstGeom>
          <a:noFill/>
          <a:ln w="34925">
            <a:solidFill>
              <a:schemeClr val="accent3"/>
            </a:solidFill>
            <a:prstDash val="solid"/>
            <a:tailEnd type="triangle"/>
          </a:ln>
        </p:spPr>
      </p:sp>
      <p:sp>
        <p:nvSpPr>
          <p:cNvPr id="34" name="Text 32"/>
          <p:cNvSpPr txBox="1"/>
          <p:nvPr/>
        </p:nvSpPr>
        <p:spPr>
          <a:xfrm>
            <a:off x="2148840" y="4069080"/>
            <a:ext cx="1417320" cy="457200"/>
          </a:xfrm>
          <a:prstGeom prst="rect">
            <a:avLst/>
          </a:prstGeom>
          <a:noFill/>
          <a:ln/>
        </p:spPr>
        <p:txBody>
          <a:bodyPr wrap="square" lIns="0" tIns="0" rIns="0" bIns="0" rtlCol="0" anchor="t"/>
          <a:lstStyle/>
          <a:p>
            <a:pPr algn="r" indent="0" marL="0">
              <a:buNone/>
            </a:pPr>
            <a:r>
              <a:rPr lang="en-US" sz="1400" dirty="0">
                <a:solidFill>
                  <a:schemeClr val="accent3"/>
                </a:solidFill>
              </a:rPr>
              <a:t>Raw TCP: newline-framed JSON</a:t>
            </a:r>
            <a:endParaRPr lang="en-US" sz="1400" dirty="0"/>
          </a:p>
        </p:txBody>
      </p:sp>
      <p:sp>
        <p:nvSpPr>
          <p:cNvPr id="35" name="Shape 33"/>
          <p:cNvSpPr/>
          <p:nvPr/>
        </p:nvSpPr>
        <p:spPr>
          <a:xfrm>
            <a:off x="7315200" y="2103120"/>
            <a:ext cx="548640" cy="0"/>
          </a:xfrm>
          <a:prstGeom prst="line">
            <a:avLst/>
          </a:prstGeom>
          <a:noFill/>
          <a:ln w="28575">
            <a:solidFill>
              <a:schemeClr val="tx2"/>
            </a:solidFill>
            <a:prstDash val="solid"/>
            <a:tailEnd type="triangle"/>
          </a:ln>
        </p:spPr>
      </p:sp>
      <p:sp>
        <p:nvSpPr>
          <p:cNvPr id="36" name="Shape 34"/>
          <p:cNvSpPr/>
          <p:nvPr/>
        </p:nvSpPr>
        <p:spPr>
          <a:xfrm>
            <a:off x="7315200" y="3429000"/>
            <a:ext cx="274320" cy="0"/>
          </a:xfrm>
          <a:prstGeom prst="line">
            <a:avLst/>
          </a:prstGeom>
          <a:noFill/>
          <a:ln w="28575">
            <a:solidFill>
              <a:schemeClr val="tx2"/>
            </a:solidFill>
            <a:prstDash val="solid"/>
          </a:ln>
        </p:spPr>
      </p:sp>
      <p:sp>
        <p:nvSpPr>
          <p:cNvPr id="37" name="Shape 35"/>
          <p:cNvSpPr/>
          <p:nvPr/>
        </p:nvSpPr>
        <p:spPr>
          <a:xfrm flipV="1">
            <a:off x="7589520" y="2331720"/>
            <a:ext cx="0" cy="1097280"/>
          </a:xfrm>
          <a:prstGeom prst="line">
            <a:avLst/>
          </a:prstGeom>
          <a:noFill/>
          <a:ln w="28575">
            <a:solidFill>
              <a:schemeClr val="tx2"/>
            </a:solidFill>
            <a:prstDash val="solid"/>
          </a:ln>
        </p:spPr>
      </p:sp>
      <p:sp>
        <p:nvSpPr>
          <p:cNvPr id="38" name="Shape 36"/>
          <p:cNvSpPr/>
          <p:nvPr/>
        </p:nvSpPr>
        <p:spPr>
          <a:xfrm>
            <a:off x="7589520" y="2331720"/>
            <a:ext cx="274320" cy="0"/>
          </a:xfrm>
          <a:prstGeom prst="line">
            <a:avLst/>
          </a:prstGeom>
          <a:noFill/>
          <a:ln w="28575">
            <a:solidFill>
              <a:schemeClr val="tx2"/>
            </a:solidFill>
            <a:prstDash val="solid"/>
            <a:tailEnd type="triangle"/>
          </a:ln>
        </p:spPr>
      </p:sp>
      <p:sp>
        <p:nvSpPr>
          <p:cNvPr id="39" name="Shape 37"/>
          <p:cNvSpPr/>
          <p:nvPr/>
        </p:nvSpPr>
        <p:spPr>
          <a:xfrm>
            <a:off x="7315200" y="5394960"/>
            <a:ext cx="548640" cy="0"/>
          </a:xfrm>
          <a:prstGeom prst="line">
            <a:avLst/>
          </a:prstGeom>
          <a:noFill/>
          <a:ln w="28575">
            <a:solidFill>
              <a:schemeClr val="tx2"/>
            </a:solidFill>
            <a:prstDash val="solid"/>
            <a:tailEnd type="triangle"/>
          </a:ln>
        </p:spPr>
      </p:sp>
      <p:sp>
        <p:nvSpPr>
          <p:cNvPr id="40" name="Shape 38"/>
          <p:cNvSpPr/>
          <p:nvPr/>
        </p:nvSpPr>
        <p:spPr>
          <a:xfrm>
            <a:off x="9601200" y="2103120"/>
            <a:ext cx="457200" cy="0"/>
          </a:xfrm>
          <a:prstGeom prst="line">
            <a:avLst/>
          </a:prstGeom>
          <a:noFill/>
          <a:ln w="28575">
            <a:solidFill>
              <a:schemeClr val="accent4"/>
            </a:solidFill>
            <a:prstDash val="dash"/>
            <a:tailEnd type="triangle"/>
          </a:ln>
        </p:spPr>
      </p:sp>
      <p:sp>
        <p:nvSpPr>
          <p:cNvPr id="41" name="Shape 39"/>
          <p:cNvSpPr/>
          <p:nvPr/>
        </p:nvSpPr>
        <p:spPr>
          <a:xfrm>
            <a:off x="9601200" y="5394960"/>
            <a:ext cx="457200" cy="0"/>
          </a:xfrm>
          <a:prstGeom prst="line">
            <a:avLst/>
          </a:prstGeom>
          <a:noFill/>
          <a:ln w="28575">
            <a:solidFill>
              <a:schemeClr val="accent4"/>
            </a:solidFill>
            <a:prstDash val="dash"/>
            <a:tailEnd type="triangle"/>
          </a:ln>
        </p:spPr>
      </p:sp>
      <p:sp>
        <p:nvSpPr>
          <p:cNvPr id="42" name="Shape 40"/>
          <p:cNvSpPr/>
          <p:nvPr/>
        </p:nvSpPr>
        <p:spPr>
          <a:xfrm flipV="1">
            <a:off x="8732520" y="2606040"/>
            <a:ext cx="0" cy="548640"/>
          </a:xfrm>
          <a:prstGeom prst="line">
            <a:avLst/>
          </a:prstGeom>
          <a:noFill/>
          <a:ln w="28575">
            <a:solidFill>
              <a:schemeClr val="accent5"/>
            </a:solidFill>
            <a:prstDash val="sysDot"/>
            <a:tailEnd type="triangle"/>
          </a:ln>
        </p:spPr>
      </p:sp>
      <p:sp>
        <p:nvSpPr>
          <p:cNvPr id="43" name="Shape 41"/>
          <p:cNvSpPr/>
          <p:nvPr/>
        </p:nvSpPr>
        <p:spPr>
          <a:xfrm>
            <a:off x="8732520" y="4343400"/>
            <a:ext cx="0" cy="548640"/>
          </a:xfrm>
          <a:prstGeom prst="line">
            <a:avLst/>
          </a:prstGeom>
          <a:noFill/>
          <a:ln w="28575">
            <a:solidFill>
              <a:schemeClr val="accent5"/>
            </a:solidFill>
            <a:prstDash val="sysDot"/>
            <a:tailEnd type="triangle"/>
          </a:ln>
        </p:spPr>
      </p:sp>
      <p:sp>
        <p:nvSpPr>
          <p:cNvPr id="44" name="Shape 42"/>
          <p:cNvSpPr/>
          <p:nvPr/>
        </p:nvSpPr>
        <p:spPr>
          <a:xfrm>
            <a:off x="9601200" y="3749040"/>
            <a:ext cx="457200" cy="0"/>
          </a:xfrm>
          <a:prstGeom prst="line">
            <a:avLst/>
          </a:prstGeom>
          <a:noFill/>
          <a:ln w="28575">
            <a:solidFill>
              <a:schemeClr val="accent5"/>
            </a:solidFill>
            <a:prstDash val="sysDot"/>
            <a:tailEnd type="triangle"/>
          </a:ln>
        </p:spPr>
      </p:sp>
      <p:sp>
        <p:nvSpPr>
          <p:cNvPr id="45" name="Shape 43"/>
          <p:cNvSpPr/>
          <p:nvPr/>
        </p:nvSpPr>
        <p:spPr>
          <a:xfrm>
            <a:off x="457200" y="6373368"/>
            <a:ext cx="411480" cy="0"/>
          </a:xfrm>
          <a:prstGeom prst="line">
            <a:avLst/>
          </a:prstGeom>
          <a:noFill/>
          <a:ln w="28575">
            <a:solidFill>
              <a:schemeClr val="accent1"/>
            </a:solidFill>
            <a:prstDash val="solid"/>
          </a:ln>
        </p:spPr>
      </p:sp>
      <p:sp>
        <p:nvSpPr>
          <p:cNvPr id="46" name="Text 44"/>
          <p:cNvSpPr txBox="1"/>
          <p:nvPr/>
        </p:nvSpPr>
        <p:spPr>
          <a:xfrm>
            <a:off x="960120" y="6236208"/>
            <a:ext cx="731520" cy="274320"/>
          </a:xfrm>
          <a:prstGeom prst="rect">
            <a:avLst/>
          </a:prstGeom>
          <a:noFill/>
          <a:ln/>
        </p:spPr>
        <p:txBody>
          <a:bodyPr wrap="square" lIns="0" tIns="0" rIns="0" bIns="0" rtlCol="0" anchor="t"/>
          <a:lstStyle/>
          <a:p>
            <a:pPr indent="0" marL="0">
              <a:buNone/>
            </a:pPr>
            <a:r>
              <a:rPr lang="en-US" sz="1400" dirty="0">
                <a:solidFill>
                  <a:schemeClr val="tx1"/>
                </a:solidFill>
              </a:rPr>
              <a:t>HTTP</a:t>
            </a:r>
            <a:endParaRPr lang="en-US" sz="1400" dirty="0"/>
          </a:p>
        </p:txBody>
      </p:sp>
      <p:sp>
        <p:nvSpPr>
          <p:cNvPr id="47" name="Shape 45"/>
          <p:cNvSpPr/>
          <p:nvPr/>
        </p:nvSpPr>
        <p:spPr>
          <a:xfrm>
            <a:off x="1965960" y="6373368"/>
            <a:ext cx="411480" cy="0"/>
          </a:xfrm>
          <a:prstGeom prst="line">
            <a:avLst/>
          </a:prstGeom>
          <a:noFill/>
          <a:ln w="28575">
            <a:solidFill>
              <a:schemeClr val="accent2"/>
            </a:solidFill>
            <a:prstDash val="solid"/>
          </a:ln>
        </p:spPr>
      </p:sp>
      <p:sp>
        <p:nvSpPr>
          <p:cNvPr id="48" name="Text 46"/>
          <p:cNvSpPr txBox="1"/>
          <p:nvPr/>
        </p:nvSpPr>
        <p:spPr>
          <a:xfrm>
            <a:off x="2468880" y="6236208"/>
            <a:ext cx="1005840" cy="274320"/>
          </a:xfrm>
          <a:prstGeom prst="rect">
            <a:avLst/>
          </a:prstGeom>
          <a:noFill/>
          <a:ln/>
        </p:spPr>
        <p:txBody>
          <a:bodyPr wrap="square" lIns="0" tIns="0" rIns="0" bIns="0" rtlCol="0" anchor="t"/>
          <a:lstStyle/>
          <a:p>
            <a:pPr indent="0" marL="0">
              <a:buNone/>
            </a:pPr>
            <a:r>
              <a:rPr lang="en-US" sz="1400" dirty="0">
                <a:solidFill>
                  <a:schemeClr val="tx1"/>
                </a:solidFill>
              </a:rPr>
              <a:t>WebSocket</a:t>
            </a:r>
            <a:endParaRPr lang="en-US" sz="1400" dirty="0"/>
          </a:p>
        </p:txBody>
      </p:sp>
      <p:sp>
        <p:nvSpPr>
          <p:cNvPr id="49" name="Shape 47"/>
          <p:cNvSpPr/>
          <p:nvPr/>
        </p:nvSpPr>
        <p:spPr>
          <a:xfrm>
            <a:off x="3749040" y="6373368"/>
            <a:ext cx="411480" cy="0"/>
          </a:xfrm>
          <a:prstGeom prst="line">
            <a:avLst/>
          </a:prstGeom>
          <a:noFill/>
          <a:ln w="34925">
            <a:solidFill>
              <a:schemeClr val="accent3"/>
            </a:solidFill>
            <a:prstDash val="solid"/>
          </a:ln>
        </p:spPr>
      </p:sp>
      <p:sp>
        <p:nvSpPr>
          <p:cNvPr id="50" name="Text 48"/>
          <p:cNvSpPr txBox="1"/>
          <p:nvPr/>
        </p:nvSpPr>
        <p:spPr>
          <a:xfrm>
            <a:off x="4251960" y="6236208"/>
            <a:ext cx="914400" cy="274320"/>
          </a:xfrm>
          <a:prstGeom prst="rect">
            <a:avLst/>
          </a:prstGeom>
          <a:noFill/>
          <a:ln/>
        </p:spPr>
        <p:txBody>
          <a:bodyPr wrap="square" lIns="0" tIns="0" rIns="0" bIns="0" rtlCol="0" anchor="t"/>
          <a:lstStyle/>
          <a:p>
            <a:pPr indent="0" marL="0">
              <a:buNone/>
            </a:pPr>
            <a:r>
              <a:rPr lang="en-US" sz="1400" dirty="0">
                <a:solidFill>
                  <a:schemeClr val="tx1"/>
                </a:solidFill>
              </a:rPr>
              <a:t>Raw TCP</a:t>
            </a:r>
            <a:endParaRPr lang="en-US" sz="1400" dirty="0"/>
          </a:p>
        </p:txBody>
      </p:sp>
      <p:sp>
        <p:nvSpPr>
          <p:cNvPr id="51" name="Shape 49"/>
          <p:cNvSpPr/>
          <p:nvPr/>
        </p:nvSpPr>
        <p:spPr>
          <a:xfrm>
            <a:off x="5440680" y="6373368"/>
            <a:ext cx="411480" cy="0"/>
          </a:xfrm>
          <a:prstGeom prst="line">
            <a:avLst/>
          </a:prstGeom>
          <a:noFill/>
          <a:ln w="28575">
            <a:solidFill>
              <a:schemeClr val="tx2"/>
            </a:solidFill>
            <a:prstDash val="solid"/>
          </a:ln>
        </p:spPr>
      </p:sp>
      <p:sp>
        <p:nvSpPr>
          <p:cNvPr id="52" name="Text 50"/>
          <p:cNvSpPr txBox="1"/>
          <p:nvPr/>
        </p:nvSpPr>
        <p:spPr>
          <a:xfrm>
            <a:off x="5943600" y="6236208"/>
            <a:ext cx="1463040" cy="274320"/>
          </a:xfrm>
          <a:prstGeom prst="rect">
            <a:avLst/>
          </a:prstGeom>
          <a:noFill/>
          <a:ln/>
        </p:spPr>
        <p:txBody>
          <a:bodyPr wrap="square" lIns="0" tIns="0" rIns="0" bIns="0" rtlCol="0" anchor="t"/>
          <a:lstStyle/>
          <a:p>
            <a:pPr indent="0" marL="0">
              <a:buNone/>
            </a:pPr>
            <a:r>
              <a:rPr lang="en-US" sz="1400" dirty="0">
                <a:solidFill>
                  <a:schemeClr val="tx1"/>
                </a:solidFill>
              </a:rPr>
              <a:t>DB connection</a:t>
            </a:r>
            <a:endParaRPr lang="en-US" sz="1400" dirty="0"/>
          </a:p>
        </p:txBody>
      </p:sp>
      <p:sp>
        <p:nvSpPr>
          <p:cNvPr id="53" name="Shape 51"/>
          <p:cNvSpPr/>
          <p:nvPr/>
        </p:nvSpPr>
        <p:spPr>
          <a:xfrm>
            <a:off x="7680960" y="6373368"/>
            <a:ext cx="411480" cy="0"/>
          </a:xfrm>
          <a:prstGeom prst="line">
            <a:avLst/>
          </a:prstGeom>
          <a:noFill/>
          <a:ln w="28575">
            <a:solidFill>
              <a:schemeClr val="accent4"/>
            </a:solidFill>
            <a:prstDash val="dash"/>
          </a:ln>
        </p:spPr>
      </p:sp>
      <p:sp>
        <p:nvSpPr>
          <p:cNvPr id="54" name="Text 52"/>
          <p:cNvSpPr txBox="1"/>
          <p:nvPr/>
        </p:nvSpPr>
        <p:spPr>
          <a:xfrm>
            <a:off x="8183880" y="6236208"/>
            <a:ext cx="1920240" cy="274320"/>
          </a:xfrm>
          <a:prstGeom prst="rect">
            <a:avLst/>
          </a:prstGeom>
          <a:noFill/>
          <a:ln/>
        </p:spPr>
        <p:txBody>
          <a:bodyPr wrap="square" lIns="0" tIns="0" rIns="0" bIns="0" rtlCol="0" anchor="t"/>
          <a:lstStyle/>
          <a:p>
            <a:pPr indent="0" marL="0">
              <a:buNone/>
            </a:pPr>
            <a:r>
              <a:rPr lang="en-US" sz="1400" dirty="0">
                <a:solidFill>
                  <a:schemeClr val="tx1"/>
                </a:solidFill>
              </a:rPr>
              <a:t>Async WAL replication</a:t>
            </a:r>
            <a:endParaRPr lang="en-US" sz="1400" dirty="0"/>
          </a:p>
        </p:txBody>
      </p:sp>
      <p:sp>
        <p:nvSpPr>
          <p:cNvPr id="55" name="Shape 53"/>
          <p:cNvSpPr/>
          <p:nvPr/>
        </p:nvSpPr>
        <p:spPr>
          <a:xfrm>
            <a:off x="10378440" y="6373368"/>
            <a:ext cx="411480" cy="0"/>
          </a:xfrm>
          <a:prstGeom prst="line">
            <a:avLst/>
          </a:prstGeom>
          <a:noFill/>
          <a:ln w="28575">
            <a:solidFill>
              <a:schemeClr val="accent5"/>
            </a:solidFill>
            <a:prstDash val="sysDot"/>
          </a:ln>
        </p:spPr>
      </p:sp>
      <p:sp>
        <p:nvSpPr>
          <p:cNvPr id="56" name="Text 54"/>
          <p:cNvSpPr txBox="1"/>
          <p:nvPr/>
        </p:nvSpPr>
        <p:spPr>
          <a:xfrm>
            <a:off x="10881360" y="6236208"/>
            <a:ext cx="1097280" cy="274320"/>
          </a:xfrm>
          <a:prstGeom prst="rect">
            <a:avLst/>
          </a:prstGeom>
          <a:noFill/>
          <a:ln/>
        </p:spPr>
        <p:txBody>
          <a:bodyPr wrap="square" lIns="0" tIns="0" rIns="0" bIns="0" rtlCol="0" anchor="t"/>
          <a:lstStyle/>
          <a:p>
            <a:pPr indent="0" marL="0">
              <a:buNone/>
            </a:pPr>
            <a:r>
              <a:rPr lang="en-US" sz="1400" dirty="0">
                <a:solidFill>
                  <a:schemeClr val="tx1"/>
                </a:solidFill>
              </a:rPr>
              <a:t>Backup flow</a:t>
            </a:r>
            <a:endParaRPr lang="en-US" sz="14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3200" b="1" dirty="0">
                <a:solidFill>
                  <a:schemeClr val="tx1"/>
                </a:solidFill>
              </a:rPr>
              <a:t>Core Distributed-Systems Mechanisms</a:t>
            </a:r>
            <a:endParaRPr lang="en-US" sz="3200" dirty="0"/>
          </a:p>
        </p:txBody>
      </p:sp>
      <p:sp>
        <p:nvSpPr>
          <p:cNvPr id="3" name="Shape 1"/>
          <p:cNvSpPr/>
          <p:nvPr/>
        </p:nvSpPr>
        <p:spPr>
          <a:xfrm>
            <a:off x="457200" y="1097280"/>
            <a:ext cx="3520440" cy="5257800"/>
          </a:xfrm>
          <a:prstGeom prst="roundRect">
            <a:avLst>
              <a:gd name="adj" fmla="val 1558"/>
            </a:avLst>
          </a:prstGeom>
          <a:solidFill>
            <a:schemeClr val="bg2"/>
          </a:solidFill>
          <a:ln w="9525">
            <a:solidFill>
              <a:schemeClr val="accent6"/>
            </a:solidFill>
            <a:prstDash val="solid"/>
          </a:ln>
        </p:spPr>
      </p:sp>
      <p:sp>
        <p:nvSpPr>
          <p:cNvPr id="4" name="Text 2"/>
          <p:cNvSpPr txBox="1"/>
          <p:nvPr/>
        </p:nvSpPr>
        <p:spPr>
          <a:xfrm>
            <a:off x="640080" y="1216152"/>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234440" y="1170432"/>
            <a:ext cx="2606040" cy="548640"/>
          </a:xfrm>
          <a:prstGeom prst="rect">
            <a:avLst/>
          </a:prstGeom>
          <a:noFill/>
          <a:ln/>
        </p:spPr>
        <p:txBody>
          <a:bodyPr wrap="square" lIns="0" tIns="0" rIns="0" bIns="0" rtlCol="0" anchor="ctr"/>
          <a:lstStyle/>
          <a:p>
            <a:pPr indent="0" marL="0">
              <a:buNone/>
            </a:pPr>
            <a:r>
              <a:rPr lang="en-US" sz="1800" b="1" dirty="0">
                <a:solidFill>
                  <a:schemeClr val="tx1"/>
                </a:solidFill>
              </a:rPr>
              <a:t>TCP Resilience</a:t>
            </a:r>
            <a:endParaRPr lang="en-US" sz="1800" dirty="0"/>
          </a:p>
        </p:txBody>
      </p:sp>
      <p:sp>
        <p:nvSpPr>
          <p:cNvPr id="6" name="Shape 4"/>
          <p:cNvSpPr/>
          <p:nvPr/>
        </p:nvSpPr>
        <p:spPr>
          <a:xfrm>
            <a:off x="640080" y="1828800"/>
            <a:ext cx="3154680" cy="1417320"/>
          </a:xfrm>
          <a:prstGeom prst="roundRect">
            <a:avLst>
              <a:gd name="adj" fmla="val 3226"/>
            </a:avLst>
          </a:prstGeom>
          <a:solidFill>
            <a:schemeClr val="bg1"/>
          </a:solidFill>
          <a:ln w="9525">
            <a:solidFill>
              <a:schemeClr val="accent6"/>
            </a:solidFill>
            <a:prstDash val="solid"/>
          </a:ln>
        </p:spPr>
      </p:sp>
      <p:sp>
        <p:nvSpPr>
          <p:cNvPr id="7" name="Text 5"/>
          <p:cNvSpPr txBox="1"/>
          <p:nvPr/>
        </p:nvSpPr>
        <p:spPr>
          <a:xfrm>
            <a:off x="685800" y="3383280"/>
            <a:ext cx="3108960" cy="210312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chemeClr val="tx1"/>
                </a:solidFill>
              </a:rPr>
              <a:t>Connection and response timeouts</a:t>
            </a:r>
            <a:endParaRPr lang="en-US" sz="1400" dirty="0"/>
          </a:p>
          <a:p>
            <a:pPr marL="203200" indent="-203200">
              <a:spcAft>
                <a:spcPts val="400"/>
              </a:spcAft>
              <a:buSzPct val="100000"/>
              <a:buChar char="•"/>
            </a:pPr>
            <a:r>
              <a:rPr lang="en-US" sz="1500" dirty="0">
                <a:solidFill>
                  <a:schemeClr val="tx1"/>
                </a:solidFill>
              </a:rPr>
              <a:t>Bounded retries</a:t>
            </a:r>
            <a:endParaRPr lang="en-US" sz="1400" dirty="0"/>
          </a:p>
          <a:p>
            <a:pPr marL="203200" indent="-203200">
              <a:spcAft>
                <a:spcPts val="400"/>
              </a:spcAft>
              <a:buSzPct val="100000"/>
              <a:buChar char="•"/>
            </a:pPr>
            <a:r>
              <a:rPr lang="en-US" sz="1500" dirty="0">
                <a:solidFill>
                  <a:schemeClr val="tx1"/>
                </a:solidFill>
              </a:rPr>
              <a:t>Exponential backoff with jitter</a:t>
            </a:r>
            <a:endParaRPr lang="en-US" sz="1400" dirty="0"/>
          </a:p>
          <a:p>
            <a:pPr marL="203200" indent="-203200">
              <a:spcAft>
                <a:spcPts val="400"/>
              </a:spcAft>
              <a:buSzPct val="100000"/>
              <a:buChar char="•"/>
            </a:pPr>
            <a:r>
              <a:rPr lang="en-US" sz="1500" dirty="0">
                <a:solidFill>
                  <a:schemeClr val="tx1"/>
                </a:solidFill>
              </a:rPr>
              <a:t>Circuit breaker (process-local)</a:t>
            </a:r>
            <a:endParaRPr lang="en-US" sz="1400" dirty="0"/>
          </a:p>
          <a:p>
            <a:pPr marL="203200" indent="-203200">
              <a:spcAft>
                <a:spcPts val="400"/>
              </a:spcAft>
              <a:buSzPct val="100000"/>
              <a:buChar char="•"/>
            </a:pPr>
            <a:r>
              <a:rPr lang="en-US" sz="1500" dirty="0">
                <a:solidFill>
                  <a:schemeClr val="tx1"/>
                </a:solidFill>
              </a:rPr>
              <a:t>Recovery probing</a:t>
            </a:r>
            <a:endParaRPr lang="en-US" sz="1400" dirty="0"/>
          </a:p>
        </p:txBody>
      </p:sp>
      <p:sp>
        <p:nvSpPr>
          <p:cNvPr id="8" name="Text 6"/>
          <p:cNvSpPr txBox="1"/>
          <p:nvPr/>
        </p:nvSpPr>
        <p:spPr>
          <a:xfrm>
            <a:off x="685800" y="5440680"/>
            <a:ext cx="3108960" cy="868680"/>
          </a:xfrm>
          <a:prstGeom prst="rect">
            <a:avLst/>
          </a:prstGeom>
          <a:noFill/>
          <a:ln/>
        </p:spPr>
        <p:txBody>
          <a:bodyPr wrap="square" lIns="0" tIns="0" rIns="0" bIns="0" rtlCol="0" anchor="t"/>
          <a:lstStyle/>
          <a:p>
            <a:pPr indent="0" marL="0">
              <a:buNone/>
            </a:pPr>
            <a:r>
              <a:rPr lang="en-US" sz="1400" b="1" dirty="0">
                <a:solidFill>
                  <a:schemeClr val="accent1"/>
                </a:solidFill>
              </a:rPr>
              <a:t>Purpose: </a:t>
            </a:r>
            <a:pPr indent="0" marL="0">
              <a:buNone/>
            </a:pPr>
            <a:r>
              <a:rPr lang="en-US" sz="1400" dirty="0">
                <a:solidFill>
                  <a:schemeClr val="tx1"/>
                </a:solidFill>
              </a:rPr>
              <a:t>Improve the handling of communication failures between the Streaming Session and Movie Catalog services.</a:t>
            </a:r>
            <a:endParaRPr lang="en-US" sz="1400" dirty="0"/>
          </a:p>
        </p:txBody>
      </p:sp>
      <p:sp>
        <p:nvSpPr>
          <p:cNvPr id="9" name="Shape 7"/>
          <p:cNvSpPr/>
          <p:nvPr/>
        </p:nvSpPr>
        <p:spPr>
          <a:xfrm>
            <a:off x="4334256" y="1097280"/>
            <a:ext cx="3520440" cy="5257800"/>
          </a:xfrm>
          <a:prstGeom prst="roundRect">
            <a:avLst>
              <a:gd name="adj" fmla="val 1558"/>
            </a:avLst>
          </a:prstGeom>
          <a:solidFill>
            <a:schemeClr val="bg2"/>
          </a:solidFill>
          <a:ln w="9525">
            <a:solidFill>
              <a:schemeClr val="accent6"/>
            </a:solidFill>
            <a:prstDash val="solid"/>
          </a:ln>
        </p:spPr>
      </p:sp>
      <p:sp>
        <p:nvSpPr>
          <p:cNvPr id="10" name="Text 8"/>
          <p:cNvSpPr txBox="1"/>
          <p:nvPr/>
        </p:nvSpPr>
        <p:spPr>
          <a:xfrm>
            <a:off x="4517136" y="1216152"/>
            <a:ext cx="457200" cy="4572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5111496" y="1170432"/>
            <a:ext cx="2606040" cy="548640"/>
          </a:xfrm>
          <a:prstGeom prst="rect">
            <a:avLst/>
          </a:prstGeom>
          <a:noFill/>
          <a:ln/>
        </p:spPr>
        <p:txBody>
          <a:bodyPr wrap="square" lIns="0" tIns="0" rIns="0" bIns="0" rtlCol="0" anchor="ctr"/>
          <a:lstStyle/>
          <a:p>
            <a:pPr indent="0" marL="0">
              <a:buNone/>
            </a:pPr>
            <a:r>
              <a:rPr lang="en-US" sz="1800" b="1" dirty="0">
                <a:solidFill>
                  <a:schemeClr val="tx1"/>
                </a:solidFill>
              </a:rPr>
              <a:t>Catalog Load Balancing</a:t>
            </a:r>
            <a:endParaRPr lang="en-US" sz="1800" dirty="0"/>
          </a:p>
        </p:txBody>
      </p:sp>
      <p:sp>
        <p:nvSpPr>
          <p:cNvPr id="12" name="Shape 10"/>
          <p:cNvSpPr/>
          <p:nvPr/>
        </p:nvSpPr>
        <p:spPr>
          <a:xfrm>
            <a:off x="4517136" y="1828800"/>
            <a:ext cx="3154680" cy="1417320"/>
          </a:xfrm>
          <a:prstGeom prst="roundRect">
            <a:avLst>
              <a:gd name="adj" fmla="val 3226"/>
            </a:avLst>
          </a:prstGeom>
          <a:solidFill>
            <a:schemeClr val="bg1"/>
          </a:solidFill>
          <a:ln w="9525">
            <a:solidFill>
              <a:schemeClr val="accent6"/>
            </a:solidFill>
            <a:prstDash val="solid"/>
          </a:ln>
        </p:spPr>
      </p:sp>
      <p:sp>
        <p:nvSpPr>
          <p:cNvPr id="13" name="Text 11"/>
          <p:cNvSpPr txBox="1"/>
          <p:nvPr/>
        </p:nvSpPr>
        <p:spPr>
          <a:xfrm>
            <a:off x="4562856" y="3383280"/>
            <a:ext cx="3108960" cy="210312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chemeClr val="tx1"/>
                </a:solidFill>
              </a:rPr>
              <a:t>Two Catalog instances behind HAProxy</a:t>
            </a:r>
            <a:endParaRPr lang="en-US" sz="1400" dirty="0"/>
          </a:p>
          <a:p>
            <a:pPr marL="203200" indent="-203200">
              <a:spcAft>
                <a:spcPts val="400"/>
              </a:spcAft>
              <a:buSzPct val="100000"/>
              <a:buChar char="•"/>
            </a:pPr>
            <a:r>
              <a:rPr lang="en-US" sz="1500" dirty="0">
                <a:solidFill>
                  <a:schemeClr val="tx1"/>
                </a:solidFill>
              </a:rPr>
              <a:t>HTTP round-robin balancing</a:t>
            </a:r>
            <a:endParaRPr lang="en-US" sz="1400" dirty="0"/>
          </a:p>
          <a:p>
            <a:pPr marL="203200" indent="-203200">
              <a:spcAft>
                <a:spcPts val="400"/>
              </a:spcAft>
              <a:buSzPct val="100000"/>
              <a:buChar char="•"/>
            </a:pPr>
            <a:r>
              <a:rPr lang="en-US" sz="1500" dirty="0">
                <a:solidFill>
                  <a:schemeClr val="tx1"/>
                </a:solidFill>
              </a:rPr>
              <a:t>HTTP health checks</a:t>
            </a:r>
            <a:endParaRPr lang="en-US" sz="1400" dirty="0"/>
          </a:p>
          <a:p>
            <a:pPr marL="203200" indent="-203200">
              <a:spcAft>
                <a:spcPts val="400"/>
              </a:spcAft>
              <a:buSzPct val="100000"/>
              <a:buChar char="•"/>
            </a:pPr>
            <a:r>
              <a:rPr lang="en-US" sz="1500" dirty="0">
                <a:solidFill>
                  <a:schemeClr val="tx1"/>
                </a:solidFill>
              </a:rPr>
              <a:t>TCP reachability checks</a:t>
            </a:r>
            <a:endParaRPr lang="en-US" sz="1400" dirty="0"/>
          </a:p>
          <a:p>
            <a:pPr marL="203200" indent="-203200">
              <a:spcAft>
                <a:spcPts val="400"/>
              </a:spcAft>
              <a:buSzPct val="100000"/>
              <a:buChar char="•"/>
            </a:pPr>
            <a:r>
              <a:rPr lang="en-US" sz="1500" dirty="0">
                <a:solidFill>
                  <a:schemeClr val="tx1"/>
                </a:solidFill>
              </a:rPr>
              <a:t>Unhealthy instances leave rotation; rejoin after recovery</a:t>
            </a:r>
            <a:endParaRPr lang="en-US" sz="1400" dirty="0"/>
          </a:p>
        </p:txBody>
      </p:sp>
      <p:sp>
        <p:nvSpPr>
          <p:cNvPr id="14" name="Text 12"/>
          <p:cNvSpPr txBox="1"/>
          <p:nvPr/>
        </p:nvSpPr>
        <p:spPr>
          <a:xfrm>
            <a:off x="4562856" y="5440680"/>
            <a:ext cx="3108960" cy="868680"/>
          </a:xfrm>
          <a:prstGeom prst="rect">
            <a:avLst/>
          </a:prstGeom>
          <a:noFill/>
          <a:ln/>
        </p:spPr>
        <p:txBody>
          <a:bodyPr wrap="square" lIns="0" tIns="0" rIns="0" bIns="0" rtlCol="0" anchor="t"/>
          <a:lstStyle/>
          <a:p>
            <a:pPr indent="0" marL="0">
              <a:buNone/>
            </a:pPr>
            <a:r>
              <a:rPr lang="en-US" sz="1400" b="1" dirty="0">
                <a:solidFill>
                  <a:schemeClr val="accent2"/>
                </a:solidFill>
              </a:rPr>
              <a:t>Purpose: </a:t>
            </a:r>
            <a:pPr indent="0" marL="0">
              <a:buNone/>
            </a:pPr>
            <a:r>
              <a:rPr lang="en-US" sz="1400" dirty="0">
                <a:solidFill>
                  <a:schemeClr val="tx1"/>
                </a:solidFill>
              </a:rPr>
              <a:t>Maintain Catalog availability when one application instance becomes unavailable.</a:t>
            </a:r>
            <a:endParaRPr lang="en-US" sz="1400" dirty="0"/>
          </a:p>
        </p:txBody>
      </p:sp>
      <p:sp>
        <p:nvSpPr>
          <p:cNvPr id="15" name="Shape 13"/>
          <p:cNvSpPr/>
          <p:nvPr/>
        </p:nvSpPr>
        <p:spPr>
          <a:xfrm>
            <a:off x="8211312" y="1097280"/>
            <a:ext cx="3520440" cy="5257800"/>
          </a:xfrm>
          <a:prstGeom prst="roundRect">
            <a:avLst>
              <a:gd name="adj" fmla="val 1558"/>
            </a:avLst>
          </a:prstGeom>
          <a:solidFill>
            <a:schemeClr val="bg2"/>
          </a:solidFill>
          <a:ln w="9525">
            <a:solidFill>
              <a:schemeClr val="accent6"/>
            </a:solidFill>
            <a:prstDash val="solid"/>
          </a:ln>
        </p:spPr>
      </p:sp>
      <p:sp>
        <p:nvSpPr>
          <p:cNvPr id="16" name="Text 14"/>
          <p:cNvSpPr txBox="1"/>
          <p:nvPr/>
        </p:nvSpPr>
        <p:spPr>
          <a:xfrm>
            <a:off x="8394192" y="1216152"/>
            <a:ext cx="457200" cy="457200"/>
          </a:xfrm>
          <a:prstGeom prst="ellipse">
            <a:avLst/>
          </a:prstGeom>
          <a:solidFill>
            <a:schemeClr val="accent4"/>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5"/>
          <p:cNvSpPr txBox="1"/>
          <p:nvPr/>
        </p:nvSpPr>
        <p:spPr>
          <a:xfrm>
            <a:off x="8988552" y="1170432"/>
            <a:ext cx="2606040" cy="548640"/>
          </a:xfrm>
          <a:prstGeom prst="rect">
            <a:avLst/>
          </a:prstGeom>
          <a:noFill/>
          <a:ln/>
        </p:spPr>
        <p:txBody>
          <a:bodyPr wrap="square" lIns="0" tIns="0" rIns="0" bIns="0" rtlCol="0" anchor="ctr"/>
          <a:lstStyle/>
          <a:p>
            <a:pPr indent="0" marL="0">
              <a:buNone/>
            </a:pPr>
            <a:r>
              <a:rPr lang="en-US" sz="1800" b="1" dirty="0">
                <a:solidFill>
                  <a:schemeClr val="tx1"/>
                </a:solidFill>
              </a:rPr>
              <a:t>Database Replication and Backup</a:t>
            </a:r>
            <a:endParaRPr lang="en-US" sz="1800" dirty="0"/>
          </a:p>
        </p:txBody>
      </p:sp>
      <p:sp>
        <p:nvSpPr>
          <p:cNvPr id="18" name="Shape 16"/>
          <p:cNvSpPr/>
          <p:nvPr/>
        </p:nvSpPr>
        <p:spPr>
          <a:xfrm>
            <a:off x="8394192" y="1828800"/>
            <a:ext cx="3154680" cy="1417320"/>
          </a:xfrm>
          <a:prstGeom prst="roundRect">
            <a:avLst>
              <a:gd name="adj" fmla="val 3226"/>
            </a:avLst>
          </a:prstGeom>
          <a:solidFill>
            <a:schemeClr val="bg1"/>
          </a:solidFill>
          <a:ln w="9525">
            <a:solidFill>
              <a:schemeClr val="accent6"/>
            </a:solidFill>
            <a:prstDash val="solid"/>
          </a:ln>
        </p:spPr>
      </p:sp>
      <p:sp>
        <p:nvSpPr>
          <p:cNvPr id="19" name="Text 17"/>
          <p:cNvSpPr txBox="1"/>
          <p:nvPr/>
        </p:nvSpPr>
        <p:spPr>
          <a:xfrm>
            <a:off x="8439912" y="3383280"/>
            <a:ext cx="3108960" cy="210312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chemeClr val="tx1"/>
                </a:solidFill>
              </a:rPr>
              <a:t>Separate Movies and Sessions primary/replica pairs</a:t>
            </a:r>
            <a:endParaRPr lang="en-US" sz="1400" dirty="0"/>
          </a:p>
          <a:p>
            <a:pPr marL="203200" indent="-203200">
              <a:spcAft>
                <a:spcPts val="400"/>
              </a:spcAft>
              <a:buSzPct val="100000"/>
              <a:buChar char="•"/>
            </a:pPr>
            <a:r>
              <a:rPr lang="en-US" sz="1500" dirty="0">
                <a:solidFill>
                  <a:schemeClr val="tx1"/>
                </a:solidFill>
              </a:rPr>
              <a:t>Asynchronous WAL streaming</a:t>
            </a:r>
            <a:endParaRPr lang="en-US" sz="1400" dirty="0"/>
          </a:p>
          <a:p>
            <a:pPr marL="203200" indent="-203200">
              <a:spcAft>
                <a:spcPts val="400"/>
              </a:spcAft>
              <a:buSzPct val="100000"/>
              <a:buChar char="•"/>
            </a:pPr>
            <a:r>
              <a:rPr lang="en-US" sz="1500" dirty="0">
                <a:solidFill>
                  <a:schemeClr val="tx1"/>
                </a:solidFill>
              </a:rPr>
              <a:t>Read-only replicas</a:t>
            </a:r>
            <a:endParaRPr lang="en-US" sz="1400" dirty="0"/>
          </a:p>
          <a:p>
            <a:pPr marL="203200" indent="-203200">
              <a:spcAft>
                <a:spcPts val="400"/>
              </a:spcAft>
              <a:buSzPct val="100000"/>
              <a:buChar char="•"/>
            </a:pPr>
            <a:r>
              <a:rPr lang="en-US" sz="1500" dirty="0">
                <a:solidFill>
                  <a:schemeClr val="tx1"/>
                </a:solidFill>
              </a:rPr>
              <a:t>On-demand logical backups</a:t>
            </a:r>
            <a:endParaRPr lang="en-US" sz="1400" dirty="0"/>
          </a:p>
        </p:txBody>
      </p:sp>
      <p:sp>
        <p:nvSpPr>
          <p:cNvPr id="20" name="Text 18"/>
          <p:cNvSpPr txBox="1"/>
          <p:nvPr/>
        </p:nvSpPr>
        <p:spPr>
          <a:xfrm>
            <a:off x="8439912" y="5440680"/>
            <a:ext cx="3108960" cy="868680"/>
          </a:xfrm>
          <a:prstGeom prst="rect">
            <a:avLst/>
          </a:prstGeom>
          <a:noFill/>
          <a:ln/>
        </p:spPr>
        <p:txBody>
          <a:bodyPr wrap="square" lIns="0" tIns="0" rIns="0" bIns="0" rtlCol="0" anchor="t"/>
          <a:lstStyle/>
          <a:p>
            <a:pPr indent="0" marL="0">
              <a:buNone/>
            </a:pPr>
            <a:r>
              <a:rPr lang="en-US" sz="1400" b="1" dirty="0">
                <a:solidFill>
                  <a:schemeClr val="accent4"/>
                </a:solidFill>
              </a:rPr>
              <a:t>Purpose: </a:t>
            </a:r>
            <a:pPr indent="0" marL="0">
              <a:buNone/>
            </a:pPr>
            <a:r>
              <a:rPr lang="en-US" sz="1400" dirty="0">
                <a:solidFill>
                  <a:schemeClr val="tx1"/>
                </a:solidFill>
              </a:rPr>
              <a:t>Maintain replicated database copies and provide a mechanism for backup restoration.</a:t>
            </a:r>
            <a:endParaRPr lang="en-US" sz="1400" dirty="0"/>
          </a:p>
        </p:txBody>
      </p:sp>
      <p:sp>
        <p:nvSpPr>
          <p:cNvPr id="21" name="Text 19"/>
          <p:cNvSpPr txBox="1"/>
          <p:nvPr/>
        </p:nvSpPr>
        <p:spPr>
          <a:xfrm>
            <a:off x="731520" y="1938528"/>
            <a:ext cx="1280160" cy="384048"/>
          </a:xfrm>
          <a:prstGeom prst="roundRect">
            <a:avLst>
              <a:gd name="adj" fmla="val 14286"/>
            </a:avLst>
          </a:prstGeom>
          <a:solidFill>
            <a:schemeClr val="bg1"/>
          </a:solidFill>
          <a:ln w="15875">
            <a:solidFill>
              <a:schemeClr val="accent2"/>
            </a:solidFill>
          </a:ln>
        </p:spPr>
        <p:txBody>
          <a:bodyPr wrap="square" lIns="1016" tIns="1016" rIns="1016" bIns="1016" rtlCol="0" anchor="ctr"/>
          <a:lstStyle/>
          <a:p>
            <a:pPr algn="ctr" indent="0" marL="0">
              <a:buNone/>
            </a:pPr>
            <a:r>
              <a:rPr lang="en-US" sz="1400" dirty="0">
                <a:solidFill>
                  <a:schemeClr val="tx1"/>
                </a:solidFill>
              </a:rPr>
              <a:t>Session</a:t>
            </a:r>
            <a:endParaRPr lang="en-US" sz="1400" dirty="0"/>
          </a:p>
        </p:txBody>
      </p:sp>
      <p:sp>
        <p:nvSpPr>
          <p:cNvPr id="22" name="Text 20"/>
          <p:cNvSpPr txBox="1"/>
          <p:nvPr/>
        </p:nvSpPr>
        <p:spPr>
          <a:xfrm>
            <a:off x="2331720" y="1938528"/>
            <a:ext cx="1280160" cy="384048"/>
          </a:xfrm>
          <a:prstGeom prst="roundRect">
            <a:avLst>
              <a:gd name="adj" fmla="val 14286"/>
            </a:avLst>
          </a:prstGeom>
          <a:solidFill>
            <a:schemeClr val="bg1"/>
          </a:solidFill>
          <a:ln w="15875">
            <a:solidFill>
              <a:schemeClr val="accent2"/>
            </a:solidFill>
          </a:ln>
        </p:spPr>
        <p:txBody>
          <a:bodyPr wrap="square" lIns="1016" tIns="1016" rIns="1016" bIns="1016" rtlCol="0" anchor="ctr"/>
          <a:lstStyle/>
          <a:p>
            <a:pPr algn="ctr" indent="0" marL="0">
              <a:buNone/>
            </a:pPr>
            <a:r>
              <a:rPr lang="en-US" sz="1400" dirty="0">
                <a:solidFill>
                  <a:schemeClr val="tx1"/>
                </a:solidFill>
              </a:rPr>
              <a:t>Catalog</a:t>
            </a:r>
            <a:endParaRPr lang="en-US" sz="1400" dirty="0"/>
          </a:p>
        </p:txBody>
      </p:sp>
      <p:sp>
        <p:nvSpPr>
          <p:cNvPr id="23" name="Shape 21"/>
          <p:cNvSpPr/>
          <p:nvPr/>
        </p:nvSpPr>
        <p:spPr>
          <a:xfrm>
            <a:off x="2011680" y="2130552"/>
            <a:ext cx="320040" cy="0"/>
          </a:xfrm>
          <a:prstGeom prst="line">
            <a:avLst/>
          </a:prstGeom>
          <a:noFill/>
          <a:ln w="34925">
            <a:solidFill>
              <a:schemeClr val="accent3"/>
            </a:solidFill>
            <a:prstDash val="solid"/>
            <a:tailEnd type="triangle"/>
          </a:ln>
        </p:spPr>
      </p:sp>
      <p:sp>
        <p:nvSpPr>
          <p:cNvPr id="24" name="Text 22"/>
          <p:cNvSpPr txBox="1"/>
          <p:nvPr/>
        </p:nvSpPr>
        <p:spPr>
          <a:xfrm>
            <a:off x="731520" y="2606040"/>
            <a:ext cx="777240" cy="411480"/>
          </a:xfrm>
          <a:prstGeom prst="roundRect">
            <a:avLst>
              <a:gd name="adj" fmla="val 13333"/>
            </a:avLst>
          </a:prstGeom>
          <a:solidFill>
            <a:schemeClr val="accent2">
              <a:alpha val="12000"/>
            </a:schemeClr>
          </a:solidFill>
          <a:ln w="15875">
            <a:solidFill>
              <a:schemeClr val="accent2"/>
            </a:solidFill>
          </a:ln>
        </p:spPr>
        <p:txBody>
          <a:bodyPr wrap="square" lIns="254" tIns="254" rIns="254" bIns="254" rtlCol="0" anchor="ctr"/>
          <a:lstStyle/>
          <a:p>
            <a:pPr algn="ctr" indent="0" marL="0">
              <a:buNone/>
            </a:pPr>
            <a:r>
              <a:rPr lang="en-US" sz="1400" dirty="0">
                <a:solidFill>
                  <a:schemeClr val="tx1"/>
                </a:solidFill>
              </a:rPr>
              <a:t>Closed</a:t>
            </a:r>
            <a:endParaRPr lang="en-US" sz="1400" dirty="0"/>
          </a:p>
        </p:txBody>
      </p:sp>
      <p:sp>
        <p:nvSpPr>
          <p:cNvPr id="25" name="Text 23"/>
          <p:cNvSpPr txBox="1"/>
          <p:nvPr/>
        </p:nvSpPr>
        <p:spPr>
          <a:xfrm>
            <a:off x="1828800" y="2606040"/>
            <a:ext cx="777240" cy="411480"/>
          </a:xfrm>
          <a:prstGeom prst="roundRect">
            <a:avLst>
              <a:gd name="adj" fmla="val 13333"/>
            </a:avLst>
          </a:prstGeom>
          <a:solidFill>
            <a:schemeClr val="accent3">
              <a:alpha val="12000"/>
            </a:schemeClr>
          </a:solidFill>
          <a:ln w="15875">
            <a:solidFill>
              <a:schemeClr val="accent3"/>
            </a:solidFill>
          </a:ln>
        </p:spPr>
        <p:txBody>
          <a:bodyPr wrap="square" lIns="254" tIns="254" rIns="254" bIns="254" rtlCol="0" anchor="ctr"/>
          <a:lstStyle/>
          <a:p>
            <a:pPr algn="ctr" indent="0" marL="0">
              <a:buNone/>
            </a:pPr>
            <a:r>
              <a:rPr lang="en-US" sz="1400" dirty="0">
                <a:solidFill>
                  <a:schemeClr val="tx1"/>
                </a:solidFill>
              </a:rPr>
              <a:t>Open</a:t>
            </a:r>
            <a:endParaRPr lang="en-US" sz="1400" dirty="0"/>
          </a:p>
        </p:txBody>
      </p:sp>
      <p:sp>
        <p:nvSpPr>
          <p:cNvPr id="26" name="Text 24"/>
          <p:cNvSpPr txBox="1"/>
          <p:nvPr/>
        </p:nvSpPr>
        <p:spPr>
          <a:xfrm>
            <a:off x="2926080" y="2606040"/>
            <a:ext cx="777240" cy="411480"/>
          </a:xfrm>
          <a:prstGeom prst="roundRect">
            <a:avLst>
              <a:gd name="adj" fmla="val 13333"/>
            </a:avLst>
          </a:prstGeom>
          <a:solidFill>
            <a:schemeClr val="accent1">
              <a:alpha val="12000"/>
            </a:schemeClr>
          </a:solidFill>
          <a:ln w="15875">
            <a:solidFill>
              <a:schemeClr val="accent1"/>
            </a:solidFill>
          </a:ln>
        </p:spPr>
        <p:txBody>
          <a:bodyPr wrap="square" lIns="254" tIns="254" rIns="254" bIns="254" rtlCol="0" anchor="ctr"/>
          <a:lstStyle/>
          <a:p>
            <a:pPr algn="ctr" indent="0" marL="0">
              <a:buNone/>
            </a:pPr>
            <a:r>
              <a:rPr lang="en-US" sz="1400" dirty="0">
                <a:solidFill>
                  <a:schemeClr val="tx1"/>
                </a:solidFill>
              </a:rPr>
              <a:t>Probe</a:t>
            </a:r>
            <a:endParaRPr lang="en-US" sz="1400" dirty="0"/>
          </a:p>
        </p:txBody>
      </p:sp>
      <p:sp>
        <p:nvSpPr>
          <p:cNvPr id="27" name="Shape 25"/>
          <p:cNvSpPr/>
          <p:nvPr/>
        </p:nvSpPr>
        <p:spPr>
          <a:xfrm>
            <a:off x="1508760" y="2811780"/>
            <a:ext cx="320040" cy="0"/>
          </a:xfrm>
          <a:prstGeom prst="line">
            <a:avLst/>
          </a:prstGeom>
          <a:noFill/>
          <a:ln w="28575">
            <a:solidFill>
              <a:schemeClr val="tx2"/>
            </a:solidFill>
            <a:prstDash val="solid"/>
            <a:tailEnd type="triangle"/>
          </a:ln>
        </p:spPr>
      </p:sp>
      <p:sp>
        <p:nvSpPr>
          <p:cNvPr id="28" name="Shape 26"/>
          <p:cNvSpPr/>
          <p:nvPr/>
        </p:nvSpPr>
        <p:spPr>
          <a:xfrm>
            <a:off x="2606040" y="2811780"/>
            <a:ext cx="320040" cy="0"/>
          </a:xfrm>
          <a:prstGeom prst="line">
            <a:avLst/>
          </a:prstGeom>
          <a:noFill/>
          <a:ln w="28575">
            <a:solidFill>
              <a:schemeClr val="tx2"/>
            </a:solidFill>
            <a:prstDash val="solid"/>
            <a:tailEnd type="triangle"/>
          </a:ln>
        </p:spPr>
      </p:sp>
      <p:sp>
        <p:nvSpPr>
          <p:cNvPr id="29" name="Text 27"/>
          <p:cNvSpPr txBox="1"/>
          <p:nvPr/>
        </p:nvSpPr>
        <p:spPr>
          <a:xfrm>
            <a:off x="5340096" y="1920240"/>
            <a:ext cx="1143000" cy="384048"/>
          </a:xfrm>
          <a:prstGeom prst="roundRect">
            <a:avLst>
              <a:gd name="adj" fmla="val 14286"/>
            </a:avLst>
          </a:prstGeom>
          <a:solidFill>
            <a:schemeClr val="bg1"/>
          </a:solidFill>
          <a:ln w="15875">
            <a:solidFill>
              <a:schemeClr val="accent3"/>
            </a:solidFill>
          </a:ln>
        </p:spPr>
        <p:txBody>
          <a:bodyPr wrap="square" lIns="1016" tIns="1016" rIns="1016" bIns="1016" rtlCol="0" anchor="ctr"/>
          <a:lstStyle/>
          <a:p>
            <a:pPr algn="ctr" indent="0" marL="0">
              <a:buNone/>
            </a:pPr>
            <a:r>
              <a:rPr lang="en-US" sz="1400" dirty="0">
                <a:solidFill>
                  <a:schemeClr val="tx1"/>
                </a:solidFill>
              </a:rPr>
              <a:t>HAProxy</a:t>
            </a:r>
            <a:endParaRPr lang="en-US" sz="1400" dirty="0"/>
          </a:p>
        </p:txBody>
      </p:sp>
      <p:sp>
        <p:nvSpPr>
          <p:cNvPr id="30" name="Text 28"/>
          <p:cNvSpPr txBox="1"/>
          <p:nvPr/>
        </p:nvSpPr>
        <p:spPr>
          <a:xfrm>
            <a:off x="4654296" y="2697480"/>
            <a:ext cx="1234440" cy="411480"/>
          </a:xfrm>
          <a:prstGeom prst="roundRect">
            <a:avLst>
              <a:gd name="adj" fmla="val 13333"/>
            </a:avLst>
          </a:prstGeom>
          <a:solidFill>
            <a:schemeClr val="bg1"/>
          </a:solidFill>
          <a:ln w="15875">
            <a:solidFill>
              <a:schemeClr val="accent2"/>
            </a:solidFill>
          </a:ln>
        </p:spPr>
        <p:txBody>
          <a:bodyPr wrap="square" lIns="1016" tIns="1016" rIns="1016" bIns="1016" rtlCol="0" anchor="ctr"/>
          <a:lstStyle/>
          <a:p>
            <a:pPr algn="ctr" indent="0" marL="0">
              <a:buNone/>
            </a:pPr>
            <a:r>
              <a:rPr lang="en-US" sz="1400" dirty="0">
                <a:solidFill>
                  <a:schemeClr val="tx1"/>
                </a:solidFill>
              </a:rPr>
              <a:t>Catalog 1</a:t>
            </a:r>
            <a:endParaRPr lang="en-US" sz="1400" dirty="0"/>
          </a:p>
        </p:txBody>
      </p:sp>
      <p:sp>
        <p:nvSpPr>
          <p:cNvPr id="31" name="Text 29"/>
          <p:cNvSpPr txBox="1"/>
          <p:nvPr/>
        </p:nvSpPr>
        <p:spPr>
          <a:xfrm>
            <a:off x="6117336" y="2697480"/>
            <a:ext cx="1234440" cy="411480"/>
          </a:xfrm>
          <a:prstGeom prst="roundRect">
            <a:avLst>
              <a:gd name="adj" fmla="val 13333"/>
            </a:avLst>
          </a:prstGeom>
          <a:solidFill>
            <a:schemeClr val="bg1"/>
          </a:solidFill>
          <a:ln w="15875">
            <a:solidFill>
              <a:schemeClr val="accent2"/>
            </a:solidFill>
          </a:ln>
        </p:spPr>
        <p:txBody>
          <a:bodyPr wrap="square" lIns="1016" tIns="1016" rIns="1016" bIns="1016" rtlCol="0" anchor="ctr"/>
          <a:lstStyle/>
          <a:p>
            <a:pPr algn="ctr" indent="0" marL="0">
              <a:buNone/>
            </a:pPr>
            <a:r>
              <a:rPr lang="en-US" sz="1400" dirty="0">
                <a:solidFill>
                  <a:schemeClr val="tx1"/>
                </a:solidFill>
              </a:rPr>
              <a:t>Catalog 2</a:t>
            </a:r>
            <a:endParaRPr lang="en-US" sz="1400" dirty="0"/>
          </a:p>
        </p:txBody>
      </p:sp>
      <p:sp>
        <p:nvSpPr>
          <p:cNvPr id="32" name="Shape 30"/>
          <p:cNvSpPr/>
          <p:nvPr/>
        </p:nvSpPr>
        <p:spPr>
          <a:xfrm flipH="1">
            <a:off x="5266944" y="2304288"/>
            <a:ext cx="438912" cy="393192"/>
          </a:xfrm>
          <a:prstGeom prst="line">
            <a:avLst/>
          </a:prstGeom>
          <a:noFill/>
          <a:ln w="28575">
            <a:solidFill>
              <a:schemeClr val="accent2"/>
            </a:solidFill>
            <a:prstDash val="solid"/>
            <a:tailEnd type="triangle"/>
          </a:ln>
        </p:spPr>
      </p:sp>
      <p:sp>
        <p:nvSpPr>
          <p:cNvPr id="33" name="Shape 31"/>
          <p:cNvSpPr/>
          <p:nvPr/>
        </p:nvSpPr>
        <p:spPr>
          <a:xfrm>
            <a:off x="6117336" y="2304288"/>
            <a:ext cx="612648" cy="393192"/>
          </a:xfrm>
          <a:prstGeom prst="line">
            <a:avLst/>
          </a:prstGeom>
          <a:noFill/>
          <a:ln w="28575">
            <a:solidFill>
              <a:schemeClr val="accent2"/>
            </a:solidFill>
            <a:prstDash val="solid"/>
            <a:tailEnd type="triangle"/>
          </a:ln>
        </p:spPr>
      </p:sp>
      <p:sp>
        <p:nvSpPr>
          <p:cNvPr id="34" name="Text 32"/>
          <p:cNvSpPr txBox="1"/>
          <p:nvPr/>
        </p:nvSpPr>
        <p:spPr>
          <a:xfrm>
            <a:off x="8485632" y="1901952"/>
            <a:ext cx="1325880" cy="365760"/>
          </a:xfrm>
          <a:prstGeom prst="roundRect">
            <a:avLst>
              <a:gd name="adj" fmla="val 15000"/>
            </a:avLst>
          </a:prstGeom>
          <a:solidFill>
            <a:schemeClr val="bg1"/>
          </a:solidFill>
          <a:ln w="15875">
            <a:solidFill>
              <a:schemeClr val="accent4"/>
            </a:solidFill>
          </a:ln>
        </p:spPr>
        <p:txBody>
          <a:bodyPr wrap="square" lIns="254" tIns="254" rIns="254" bIns="254" rtlCol="0" anchor="ctr"/>
          <a:lstStyle/>
          <a:p>
            <a:pPr algn="ctr" indent="0" marL="0">
              <a:buNone/>
            </a:pPr>
            <a:r>
              <a:rPr lang="en-US" sz="1400" dirty="0">
                <a:solidFill>
                  <a:schemeClr val="tx1"/>
                </a:solidFill>
              </a:rPr>
              <a:t>Movies primary</a:t>
            </a:r>
            <a:endParaRPr lang="en-US" sz="1400" dirty="0"/>
          </a:p>
        </p:txBody>
      </p:sp>
      <p:sp>
        <p:nvSpPr>
          <p:cNvPr id="35" name="Text 33"/>
          <p:cNvSpPr txBox="1"/>
          <p:nvPr/>
        </p:nvSpPr>
        <p:spPr>
          <a:xfrm>
            <a:off x="10177272" y="1901952"/>
            <a:ext cx="1097280" cy="365760"/>
          </a:xfrm>
          <a:prstGeom prst="roundRect">
            <a:avLst>
              <a:gd name="adj" fmla="val 15000"/>
            </a:avLst>
          </a:prstGeom>
          <a:solidFill>
            <a:schemeClr val="bg1"/>
          </a:solidFill>
          <a:ln w="15875">
            <a:solidFill>
              <a:schemeClr val="accent4"/>
            </a:solidFill>
          </a:ln>
        </p:spPr>
        <p:txBody>
          <a:bodyPr wrap="square" lIns="1016" tIns="1016" rIns="1016" bIns="1016" rtlCol="0" anchor="ctr"/>
          <a:lstStyle/>
          <a:p>
            <a:pPr algn="ctr" indent="0" marL="0">
              <a:buNone/>
            </a:pPr>
            <a:r>
              <a:rPr lang="en-US" sz="1400" dirty="0">
                <a:solidFill>
                  <a:schemeClr val="tx1"/>
                </a:solidFill>
              </a:rPr>
              <a:t>Replica</a:t>
            </a:r>
            <a:endParaRPr lang="en-US" sz="1400" dirty="0"/>
          </a:p>
        </p:txBody>
      </p:sp>
      <p:sp>
        <p:nvSpPr>
          <p:cNvPr id="36" name="Shape 34"/>
          <p:cNvSpPr/>
          <p:nvPr/>
        </p:nvSpPr>
        <p:spPr>
          <a:xfrm>
            <a:off x="9811512" y="2084832"/>
            <a:ext cx="365760" cy="0"/>
          </a:xfrm>
          <a:prstGeom prst="line">
            <a:avLst/>
          </a:prstGeom>
          <a:noFill/>
          <a:ln w="28575">
            <a:solidFill>
              <a:schemeClr val="accent4"/>
            </a:solidFill>
            <a:prstDash val="dash"/>
            <a:tailEnd type="triangle"/>
          </a:ln>
        </p:spPr>
      </p:sp>
      <p:sp>
        <p:nvSpPr>
          <p:cNvPr id="37" name="Text 35"/>
          <p:cNvSpPr txBox="1"/>
          <p:nvPr/>
        </p:nvSpPr>
        <p:spPr>
          <a:xfrm>
            <a:off x="8485632" y="2359152"/>
            <a:ext cx="1325880" cy="365760"/>
          </a:xfrm>
          <a:prstGeom prst="roundRect">
            <a:avLst>
              <a:gd name="adj" fmla="val 15000"/>
            </a:avLst>
          </a:prstGeom>
          <a:solidFill>
            <a:schemeClr val="bg1"/>
          </a:solidFill>
          <a:ln w="15875">
            <a:solidFill>
              <a:schemeClr val="accent4"/>
            </a:solidFill>
          </a:ln>
        </p:spPr>
        <p:txBody>
          <a:bodyPr wrap="square" lIns="254" tIns="254" rIns="254" bIns="254" rtlCol="0" anchor="ctr"/>
          <a:lstStyle/>
          <a:p>
            <a:pPr algn="ctr" indent="0" marL="0">
              <a:buNone/>
            </a:pPr>
            <a:r>
              <a:rPr lang="en-US" sz="1400" dirty="0">
                <a:solidFill>
                  <a:schemeClr val="tx1"/>
                </a:solidFill>
              </a:rPr>
              <a:t>Sessions primary</a:t>
            </a:r>
            <a:endParaRPr lang="en-US" sz="1400" dirty="0"/>
          </a:p>
        </p:txBody>
      </p:sp>
      <p:sp>
        <p:nvSpPr>
          <p:cNvPr id="38" name="Text 36"/>
          <p:cNvSpPr txBox="1"/>
          <p:nvPr/>
        </p:nvSpPr>
        <p:spPr>
          <a:xfrm>
            <a:off x="10177272" y="2359152"/>
            <a:ext cx="1097280" cy="365760"/>
          </a:xfrm>
          <a:prstGeom prst="roundRect">
            <a:avLst>
              <a:gd name="adj" fmla="val 15000"/>
            </a:avLst>
          </a:prstGeom>
          <a:solidFill>
            <a:schemeClr val="bg1"/>
          </a:solidFill>
          <a:ln w="15875">
            <a:solidFill>
              <a:schemeClr val="accent4"/>
            </a:solidFill>
          </a:ln>
        </p:spPr>
        <p:txBody>
          <a:bodyPr wrap="square" lIns="1016" tIns="1016" rIns="1016" bIns="1016" rtlCol="0" anchor="ctr"/>
          <a:lstStyle/>
          <a:p>
            <a:pPr algn="ctr" indent="0" marL="0">
              <a:buNone/>
            </a:pPr>
            <a:r>
              <a:rPr lang="en-US" sz="1400" dirty="0">
                <a:solidFill>
                  <a:schemeClr val="tx1"/>
                </a:solidFill>
              </a:rPr>
              <a:t>Replica</a:t>
            </a:r>
            <a:endParaRPr lang="en-US" sz="1400" dirty="0"/>
          </a:p>
        </p:txBody>
      </p:sp>
      <p:sp>
        <p:nvSpPr>
          <p:cNvPr id="39" name="Shape 37"/>
          <p:cNvSpPr/>
          <p:nvPr/>
        </p:nvSpPr>
        <p:spPr>
          <a:xfrm>
            <a:off x="9811512" y="2542032"/>
            <a:ext cx="365760" cy="0"/>
          </a:xfrm>
          <a:prstGeom prst="line">
            <a:avLst/>
          </a:prstGeom>
          <a:noFill/>
          <a:ln w="28575">
            <a:solidFill>
              <a:schemeClr val="accent4"/>
            </a:solidFill>
            <a:prstDash val="dash"/>
            <a:tailEnd type="triangle"/>
          </a:ln>
        </p:spPr>
      </p:sp>
      <p:sp>
        <p:nvSpPr>
          <p:cNvPr id="40" name="Text 38"/>
          <p:cNvSpPr txBox="1"/>
          <p:nvPr/>
        </p:nvSpPr>
        <p:spPr>
          <a:xfrm>
            <a:off x="8485632" y="2816352"/>
            <a:ext cx="2788920" cy="365760"/>
          </a:xfrm>
          <a:prstGeom prst="roundRect">
            <a:avLst>
              <a:gd name="adj" fmla="val 15000"/>
            </a:avLst>
          </a:prstGeom>
          <a:solidFill>
            <a:schemeClr val="bg1"/>
          </a:solidFill>
          <a:ln w="15875">
            <a:solidFill>
              <a:schemeClr val="accent5"/>
            </a:solidFill>
            <a:prstDash val="sysDot"/>
          </a:ln>
        </p:spPr>
        <p:txBody>
          <a:bodyPr wrap="square" lIns="1016" tIns="1016" rIns="1016" bIns="1016" rtlCol="0" anchor="ctr"/>
          <a:lstStyle/>
          <a:p>
            <a:pPr algn="ctr" indent="0" marL="0">
              <a:buNone/>
            </a:pPr>
            <a:r>
              <a:rPr lang="en-US" sz="1400" dirty="0">
                <a:solidFill>
                  <a:schemeClr val="tx1"/>
                </a:solidFill>
              </a:rPr>
              <a:t>On-demand logical backup</a:t>
            </a:r>
            <a:endParaRPr lang="en-US" sz="14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3200" b="1" dirty="0">
                <a:solidFill>
                  <a:schemeClr val="tx1"/>
                </a:solidFill>
              </a:rPr>
              <a:t>Application Features &amp; User Workflow</a:t>
            </a:r>
            <a:endParaRPr lang="en-US" sz="3200" dirty="0"/>
          </a:p>
        </p:txBody>
      </p:sp>
      <p:sp>
        <p:nvSpPr>
          <p:cNvPr id="3" name="Shape 1"/>
          <p:cNvSpPr/>
          <p:nvPr/>
        </p:nvSpPr>
        <p:spPr>
          <a:xfrm>
            <a:off x="457200" y="1051560"/>
            <a:ext cx="2697480" cy="2697480"/>
          </a:xfrm>
          <a:prstGeom prst="roundRect">
            <a:avLst>
              <a:gd name="adj" fmla="val 2034"/>
            </a:avLst>
          </a:prstGeom>
          <a:solidFill>
            <a:schemeClr val="bg2"/>
          </a:solidFill>
          <a:ln w="9525">
            <a:solidFill>
              <a:schemeClr val="accent6"/>
            </a:solidFill>
            <a:prstDash val="solid"/>
          </a:ln>
        </p:spPr>
      </p:sp>
      <p:sp>
        <p:nvSpPr>
          <p:cNvPr id="4" name="Text 2"/>
          <p:cNvSpPr txBox="1"/>
          <p:nvPr/>
        </p:nvSpPr>
        <p:spPr>
          <a:xfrm>
            <a:off x="594360" y="1143000"/>
            <a:ext cx="2468880" cy="320040"/>
          </a:xfrm>
          <a:prstGeom prst="rect">
            <a:avLst/>
          </a:prstGeom>
          <a:noFill/>
          <a:ln/>
        </p:spPr>
        <p:txBody>
          <a:bodyPr wrap="square" lIns="0" tIns="0" rIns="0" bIns="0" rtlCol="0" anchor="t"/>
          <a:lstStyle/>
          <a:p>
            <a:pPr indent="0" marL="0">
              <a:buNone/>
            </a:pPr>
            <a:r>
              <a:rPr lang="en-US" sz="1600" b="1" dirty="0">
                <a:solidFill>
                  <a:schemeClr val="accent1"/>
                </a:solidFill>
              </a:rPr>
              <a:t>A. User Authentication</a:t>
            </a:r>
            <a:endParaRPr lang="en-US" sz="1600" dirty="0"/>
          </a:p>
        </p:txBody>
      </p:sp>
      <p:sp>
        <p:nvSpPr>
          <p:cNvPr id="5" name="Text 3"/>
          <p:cNvSpPr txBox="1"/>
          <p:nvPr/>
        </p:nvSpPr>
        <p:spPr>
          <a:xfrm>
            <a:off x="594360" y="1554480"/>
            <a:ext cx="2468880" cy="214884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chemeClr val="tx1"/>
                </a:solidFill>
              </a:rPr>
              <a:t>Login through the Streaming Session service</a:t>
            </a:r>
            <a:endParaRPr lang="en-US" sz="1400" dirty="0"/>
          </a:p>
          <a:p>
            <a:pPr marL="203200" indent="-203200">
              <a:spcAft>
                <a:spcPts val="300"/>
              </a:spcAft>
              <a:buSzPct val="100000"/>
              <a:buChar char="•"/>
            </a:pPr>
            <a:r>
              <a:rPr lang="en-US" sz="1400" dirty="0">
                <a:solidFill>
                  <a:schemeClr val="tx1"/>
                </a:solidFill>
              </a:rPr>
              <a:t>Access token authenticates the session WebSocket</a:t>
            </a:r>
            <a:endParaRPr lang="en-US" sz="1400" dirty="0"/>
          </a:p>
          <a:p>
            <a:pPr marL="203200" indent="-203200">
              <a:spcAft>
                <a:spcPts val="300"/>
              </a:spcAft>
              <a:buSzPct val="100000"/>
              <a:buChar char="•"/>
            </a:pPr>
            <a:r>
              <a:rPr lang="en-US" sz="1400" dirty="0">
                <a:solidFill>
                  <a:schemeClr val="tx1"/>
                </a:solidFill>
              </a:rPr>
              <a:t>Registration via an HTTP endpoint</a:t>
            </a:r>
            <a:endParaRPr lang="en-US" sz="1400" dirty="0"/>
          </a:p>
        </p:txBody>
      </p:sp>
      <p:sp>
        <p:nvSpPr>
          <p:cNvPr id="6" name="Shape 4"/>
          <p:cNvSpPr/>
          <p:nvPr/>
        </p:nvSpPr>
        <p:spPr>
          <a:xfrm>
            <a:off x="3328416" y="1051560"/>
            <a:ext cx="2697480" cy="2697480"/>
          </a:xfrm>
          <a:prstGeom prst="roundRect">
            <a:avLst>
              <a:gd name="adj" fmla="val 2034"/>
            </a:avLst>
          </a:prstGeom>
          <a:solidFill>
            <a:schemeClr val="bg2"/>
          </a:solidFill>
          <a:ln w="9525">
            <a:solidFill>
              <a:schemeClr val="accent6"/>
            </a:solidFill>
            <a:prstDash val="solid"/>
          </a:ln>
        </p:spPr>
      </p:sp>
      <p:sp>
        <p:nvSpPr>
          <p:cNvPr id="7" name="Text 5"/>
          <p:cNvSpPr txBox="1"/>
          <p:nvPr/>
        </p:nvSpPr>
        <p:spPr>
          <a:xfrm>
            <a:off x="3465576" y="1143000"/>
            <a:ext cx="2468880" cy="320040"/>
          </a:xfrm>
          <a:prstGeom prst="rect">
            <a:avLst/>
          </a:prstGeom>
          <a:noFill/>
          <a:ln/>
        </p:spPr>
        <p:txBody>
          <a:bodyPr wrap="square" lIns="0" tIns="0" rIns="0" bIns="0" rtlCol="0" anchor="t"/>
          <a:lstStyle/>
          <a:p>
            <a:pPr indent="0" marL="0">
              <a:buNone/>
            </a:pPr>
            <a:r>
              <a:rPr lang="en-US" sz="1600" b="1" dirty="0">
                <a:solidFill>
                  <a:schemeClr val="accent1"/>
                </a:solidFill>
              </a:rPr>
              <a:t>B. Movie Discovery</a:t>
            </a:r>
            <a:endParaRPr lang="en-US" sz="1600" dirty="0"/>
          </a:p>
        </p:txBody>
      </p:sp>
      <p:sp>
        <p:nvSpPr>
          <p:cNvPr id="8" name="Text 6"/>
          <p:cNvSpPr txBox="1"/>
          <p:nvPr/>
        </p:nvSpPr>
        <p:spPr>
          <a:xfrm>
            <a:off x="3465576" y="1554480"/>
            <a:ext cx="2468880" cy="214884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chemeClr val="tx1"/>
                </a:solidFill>
              </a:rPr>
              <a:t>Browse and search movies</a:t>
            </a:r>
            <a:endParaRPr lang="en-US" sz="1400" dirty="0"/>
          </a:p>
          <a:p>
            <a:pPr marL="203200" indent="-203200">
              <a:spcAft>
                <a:spcPts val="300"/>
              </a:spcAft>
              <a:buSzPct val="100000"/>
              <a:buChar char="•"/>
            </a:pPr>
            <a:r>
              <a:rPr lang="en-US" sz="1400" dirty="0">
                <a:solidFill>
                  <a:schemeClr val="tx1"/>
                </a:solidFill>
              </a:rPr>
              <a:t>View movie details</a:t>
            </a:r>
            <a:endParaRPr lang="en-US" sz="1400" dirty="0"/>
          </a:p>
          <a:p>
            <a:pPr marL="203200" indent="-203200">
              <a:spcAft>
                <a:spcPts val="300"/>
              </a:spcAft>
              <a:buSzPct val="100000"/>
              <a:buChar char="•"/>
            </a:pPr>
            <a:r>
              <a:rPr lang="en-US" sz="1400" dirty="0">
                <a:solidFill>
                  <a:schemeClr val="tx1"/>
                </a:solidFill>
              </a:rPr>
              <a:t>Catalog data over WebSocket, routed by HAProxy</a:t>
            </a:r>
            <a:endParaRPr lang="en-US" sz="1400" dirty="0"/>
          </a:p>
          <a:p>
            <a:pPr marL="203200" indent="-203200">
              <a:spcAft>
                <a:spcPts val="300"/>
              </a:spcAft>
              <a:buSzPct val="100000"/>
              <a:buChar char="•"/>
            </a:pPr>
            <a:r>
              <a:rPr lang="en-US" sz="1400" dirty="0">
                <a:solidFill>
                  <a:schemeClr val="tx1"/>
                </a:solidFill>
              </a:rPr>
              <a:t>Both Catalog instances use the Movies database</a:t>
            </a:r>
            <a:endParaRPr lang="en-US" sz="1400" dirty="0"/>
          </a:p>
        </p:txBody>
      </p:sp>
      <p:sp>
        <p:nvSpPr>
          <p:cNvPr id="9" name="Shape 7"/>
          <p:cNvSpPr/>
          <p:nvPr/>
        </p:nvSpPr>
        <p:spPr>
          <a:xfrm>
            <a:off x="6199632" y="1051560"/>
            <a:ext cx="2697480" cy="2697480"/>
          </a:xfrm>
          <a:prstGeom prst="roundRect">
            <a:avLst>
              <a:gd name="adj" fmla="val 2034"/>
            </a:avLst>
          </a:prstGeom>
          <a:solidFill>
            <a:schemeClr val="bg2"/>
          </a:solidFill>
          <a:ln w="9525">
            <a:solidFill>
              <a:schemeClr val="accent6"/>
            </a:solidFill>
            <a:prstDash val="solid"/>
          </a:ln>
        </p:spPr>
      </p:sp>
      <p:sp>
        <p:nvSpPr>
          <p:cNvPr id="10" name="Text 8"/>
          <p:cNvSpPr txBox="1"/>
          <p:nvPr/>
        </p:nvSpPr>
        <p:spPr>
          <a:xfrm>
            <a:off x="6336792" y="1143000"/>
            <a:ext cx="2468880" cy="320040"/>
          </a:xfrm>
          <a:prstGeom prst="rect">
            <a:avLst/>
          </a:prstGeom>
          <a:noFill/>
          <a:ln/>
        </p:spPr>
        <p:txBody>
          <a:bodyPr wrap="square" lIns="0" tIns="0" rIns="0" bIns="0" rtlCol="0" anchor="t"/>
          <a:lstStyle/>
          <a:p>
            <a:pPr indent="0" marL="0">
              <a:buNone/>
            </a:pPr>
            <a:r>
              <a:rPr lang="en-US" sz="1600" b="1" dirty="0">
                <a:solidFill>
                  <a:schemeClr val="accent2"/>
                </a:solidFill>
              </a:rPr>
              <a:t>C. Video Playback</a:t>
            </a:r>
            <a:endParaRPr lang="en-US" sz="1600" dirty="0"/>
          </a:p>
        </p:txBody>
      </p:sp>
      <p:sp>
        <p:nvSpPr>
          <p:cNvPr id="11" name="Text 9"/>
          <p:cNvSpPr txBox="1"/>
          <p:nvPr/>
        </p:nvSpPr>
        <p:spPr>
          <a:xfrm>
            <a:off x="6336792" y="1554480"/>
            <a:ext cx="2468880" cy="214884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chemeClr val="tx1"/>
                </a:solidFill>
              </a:rPr>
              <a:t>Local MP4 assets served by Nginx</a:t>
            </a:r>
            <a:endParaRPr lang="en-US" sz="1400" dirty="0"/>
          </a:p>
          <a:p>
            <a:pPr marL="203200" indent="-203200">
              <a:spcAft>
                <a:spcPts val="300"/>
              </a:spcAft>
              <a:buSzPct val="100000"/>
              <a:buChar char="•"/>
            </a:pPr>
            <a:r>
              <a:rPr lang="en-US" sz="1400" dirty="0">
                <a:solidFill>
                  <a:schemeClr val="tx1"/>
                </a:solidFill>
              </a:rPr>
              <a:t>Seeking via HTTP byte-range requests</a:t>
            </a:r>
            <a:endParaRPr lang="en-US" sz="1400" dirty="0"/>
          </a:p>
          <a:p>
            <a:pPr marL="203200" indent="-203200">
              <a:spcAft>
                <a:spcPts val="300"/>
              </a:spcAft>
              <a:buSzPct val="100000"/>
              <a:buChar char="•"/>
            </a:pPr>
            <a:r>
              <a:rPr lang="en-US" sz="1400" dirty="0">
                <a:solidFill>
                  <a:schemeClr val="tx1"/>
                </a:solidFill>
              </a:rPr>
              <a:t>Playback associated with a session</a:t>
            </a:r>
            <a:endParaRPr lang="en-US" sz="1400" dirty="0"/>
          </a:p>
        </p:txBody>
      </p:sp>
      <p:sp>
        <p:nvSpPr>
          <p:cNvPr id="12" name="Shape 10"/>
          <p:cNvSpPr/>
          <p:nvPr/>
        </p:nvSpPr>
        <p:spPr>
          <a:xfrm>
            <a:off x="9070848" y="1051560"/>
            <a:ext cx="2697480" cy="2697480"/>
          </a:xfrm>
          <a:prstGeom prst="roundRect">
            <a:avLst>
              <a:gd name="adj" fmla="val 2034"/>
            </a:avLst>
          </a:prstGeom>
          <a:solidFill>
            <a:schemeClr val="bg2"/>
          </a:solidFill>
          <a:ln w="9525">
            <a:solidFill>
              <a:schemeClr val="accent6"/>
            </a:solidFill>
            <a:prstDash val="solid"/>
          </a:ln>
        </p:spPr>
      </p:sp>
      <p:sp>
        <p:nvSpPr>
          <p:cNvPr id="13" name="Text 11"/>
          <p:cNvSpPr txBox="1"/>
          <p:nvPr/>
        </p:nvSpPr>
        <p:spPr>
          <a:xfrm>
            <a:off x="9208008" y="1143000"/>
            <a:ext cx="2468880" cy="320040"/>
          </a:xfrm>
          <a:prstGeom prst="rect">
            <a:avLst/>
          </a:prstGeom>
          <a:noFill/>
          <a:ln/>
        </p:spPr>
        <p:txBody>
          <a:bodyPr wrap="square" lIns="0" tIns="0" rIns="0" bIns="0" rtlCol="0" anchor="t"/>
          <a:lstStyle/>
          <a:p>
            <a:pPr indent="0" marL="0">
              <a:buNone/>
            </a:pPr>
            <a:r>
              <a:rPr lang="en-US" sz="1600" b="1" dirty="0">
                <a:solidFill>
                  <a:schemeClr val="accent3"/>
                </a:solidFill>
              </a:rPr>
              <a:t>D. Session Management</a:t>
            </a:r>
            <a:endParaRPr lang="en-US" sz="1600" dirty="0"/>
          </a:p>
        </p:txBody>
      </p:sp>
      <p:sp>
        <p:nvSpPr>
          <p:cNvPr id="14" name="Text 12"/>
          <p:cNvSpPr txBox="1"/>
          <p:nvPr/>
        </p:nvSpPr>
        <p:spPr>
          <a:xfrm>
            <a:off x="9208008" y="1554480"/>
            <a:ext cx="2468880" cy="214884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chemeClr val="tx1"/>
                </a:solidFill>
              </a:rPr>
              <a:t>Create and retrieve sessions</a:t>
            </a:r>
            <a:endParaRPr lang="en-US" sz="1400" dirty="0"/>
          </a:p>
          <a:p>
            <a:pPr marL="203200" indent="-203200">
              <a:spcAft>
                <a:spcPts val="300"/>
              </a:spcAft>
              <a:buSzPct val="100000"/>
              <a:buChar char="•"/>
            </a:pPr>
            <a:r>
              <a:rPr lang="en-US" sz="1400" dirty="0">
                <a:solidFill>
                  <a:schemeClr val="tx1"/>
                </a:solidFill>
              </a:rPr>
              <a:t>Update playback position</a:t>
            </a:r>
            <a:endParaRPr lang="en-US" sz="1400" dirty="0"/>
          </a:p>
          <a:p>
            <a:pPr marL="203200" indent="-203200">
              <a:spcAft>
                <a:spcPts val="300"/>
              </a:spcAft>
              <a:buSzPct val="100000"/>
              <a:buChar char="•"/>
            </a:pPr>
            <a:r>
              <a:rPr lang="en-US" sz="1400" dirty="0">
                <a:solidFill>
                  <a:schemeClr val="tx1"/>
                </a:solidFill>
              </a:rPr>
              <a:t>Track session completion</a:t>
            </a:r>
            <a:endParaRPr lang="en-US" sz="1400" dirty="0"/>
          </a:p>
          <a:p>
            <a:pPr marL="203200" indent="-203200">
              <a:spcAft>
                <a:spcPts val="300"/>
              </a:spcAft>
              <a:buSzPct val="100000"/>
              <a:buChar char="•"/>
            </a:pPr>
            <a:r>
              <a:rPr lang="en-US" sz="1400" dirty="0">
                <a:solidFill>
                  <a:schemeClr val="tx1"/>
                </a:solidFill>
              </a:rPr>
              <a:t>Continue Watching list</a:t>
            </a:r>
            <a:endParaRPr lang="en-US" sz="1400" dirty="0"/>
          </a:p>
          <a:p>
            <a:pPr marL="203200" indent="-203200">
              <a:spcAft>
                <a:spcPts val="300"/>
              </a:spcAft>
              <a:buSzPct val="100000"/>
              <a:buChar char="•"/>
            </a:pPr>
            <a:r>
              <a:rPr lang="en-US" sz="1400" dirty="0">
                <a:solidFill>
                  <a:schemeClr val="tx1"/>
                </a:solidFill>
              </a:rPr>
              <a:t>Replaying a completed movie creates a new session</a:t>
            </a:r>
            <a:endParaRPr lang="en-US" sz="1400" dirty="0"/>
          </a:p>
        </p:txBody>
      </p:sp>
      <p:sp>
        <p:nvSpPr>
          <p:cNvPr id="15" name="Text 13"/>
          <p:cNvSpPr txBox="1"/>
          <p:nvPr/>
        </p:nvSpPr>
        <p:spPr>
          <a:xfrm>
            <a:off x="457200" y="3931920"/>
            <a:ext cx="1554480" cy="777240"/>
          </a:xfrm>
          <a:prstGeom prst="roundRect">
            <a:avLst>
              <a:gd name="adj" fmla="val 7059"/>
            </a:avLst>
          </a:prstGeom>
          <a:solidFill>
            <a:schemeClr val="accent1">
              <a:alpha val="10000"/>
            </a:schemeClr>
          </a:solidFill>
          <a:ln w="19050">
            <a:solidFill>
              <a:schemeClr val="accent1"/>
            </a:solidFill>
          </a:ln>
        </p:spPr>
        <p:txBody>
          <a:bodyPr wrap="square" lIns="1016" tIns="1016" rIns="1016" bIns="1016" rtlCol="0" anchor="ctr"/>
          <a:lstStyle/>
          <a:p>
            <a:pPr algn="ctr" indent="0" marL="0">
              <a:buNone/>
            </a:pPr>
            <a:r>
              <a:rPr lang="en-US" sz="1400" b="1" dirty="0">
                <a:solidFill>
                  <a:schemeClr val="tx1"/>
                </a:solidFill>
              </a:rPr>
              <a:t>Login</a:t>
            </a:r>
            <a:endParaRPr lang="en-US" sz="1400" dirty="0"/>
          </a:p>
        </p:txBody>
      </p:sp>
      <p:sp>
        <p:nvSpPr>
          <p:cNvPr id="16" name="Shape 14"/>
          <p:cNvSpPr/>
          <p:nvPr/>
        </p:nvSpPr>
        <p:spPr>
          <a:xfrm>
            <a:off x="2029968" y="4320540"/>
            <a:ext cx="329184" cy="0"/>
          </a:xfrm>
          <a:prstGeom prst="line">
            <a:avLst/>
          </a:prstGeom>
          <a:noFill/>
          <a:ln w="28575">
            <a:solidFill>
              <a:schemeClr val="tx2"/>
            </a:solidFill>
            <a:prstDash val="solid"/>
            <a:tailEnd type="triangle"/>
          </a:ln>
        </p:spPr>
      </p:sp>
      <p:sp>
        <p:nvSpPr>
          <p:cNvPr id="17" name="Text 15"/>
          <p:cNvSpPr txBox="1"/>
          <p:nvPr/>
        </p:nvSpPr>
        <p:spPr>
          <a:xfrm>
            <a:off x="2377440" y="3931920"/>
            <a:ext cx="1554480" cy="777240"/>
          </a:xfrm>
          <a:prstGeom prst="roundRect">
            <a:avLst>
              <a:gd name="adj" fmla="val 7059"/>
            </a:avLst>
          </a:prstGeom>
          <a:solidFill>
            <a:schemeClr val="accent1">
              <a:alpha val="10000"/>
            </a:schemeClr>
          </a:solidFill>
          <a:ln w="19050">
            <a:solidFill>
              <a:schemeClr val="accent1"/>
            </a:solidFill>
          </a:ln>
        </p:spPr>
        <p:txBody>
          <a:bodyPr wrap="square" lIns="1016" tIns="1016" rIns="1016" bIns="1016" rtlCol="0" anchor="ctr"/>
          <a:lstStyle/>
          <a:p>
            <a:pPr algn="ctr" indent="0" marL="0">
              <a:buNone/>
            </a:pPr>
            <a:r>
              <a:rPr lang="en-US" sz="1400" b="1" dirty="0">
                <a:solidFill>
                  <a:schemeClr val="tx1"/>
                </a:solidFill>
              </a:rPr>
              <a:t>Browse Movies</a:t>
            </a:r>
            <a:endParaRPr lang="en-US" sz="1400" dirty="0"/>
          </a:p>
        </p:txBody>
      </p:sp>
      <p:sp>
        <p:nvSpPr>
          <p:cNvPr id="18" name="Shape 16"/>
          <p:cNvSpPr/>
          <p:nvPr/>
        </p:nvSpPr>
        <p:spPr>
          <a:xfrm>
            <a:off x="3950208" y="4320540"/>
            <a:ext cx="329184" cy="0"/>
          </a:xfrm>
          <a:prstGeom prst="line">
            <a:avLst/>
          </a:prstGeom>
          <a:noFill/>
          <a:ln w="28575">
            <a:solidFill>
              <a:schemeClr val="tx2"/>
            </a:solidFill>
            <a:prstDash val="solid"/>
            <a:tailEnd type="triangle"/>
          </a:ln>
        </p:spPr>
      </p:sp>
      <p:sp>
        <p:nvSpPr>
          <p:cNvPr id="19" name="Text 17"/>
          <p:cNvSpPr txBox="1"/>
          <p:nvPr/>
        </p:nvSpPr>
        <p:spPr>
          <a:xfrm>
            <a:off x="4297680" y="3931920"/>
            <a:ext cx="1554480" cy="777240"/>
          </a:xfrm>
          <a:prstGeom prst="roundRect">
            <a:avLst>
              <a:gd name="adj" fmla="val 7059"/>
            </a:avLst>
          </a:prstGeom>
          <a:solidFill>
            <a:schemeClr val="accent1">
              <a:alpha val="10000"/>
            </a:schemeClr>
          </a:solidFill>
          <a:ln w="19050">
            <a:solidFill>
              <a:schemeClr val="accent1"/>
            </a:solidFill>
          </a:ln>
        </p:spPr>
        <p:txBody>
          <a:bodyPr wrap="square" lIns="1016" tIns="1016" rIns="1016" bIns="1016" rtlCol="0" anchor="ctr"/>
          <a:lstStyle/>
          <a:p>
            <a:pPr algn="ctr" indent="0" marL="0">
              <a:buNone/>
            </a:pPr>
            <a:r>
              <a:rPr lang="en-US" sz="1400" b="1" dirty="0">
                <a:solidFill>
                  <a:schemeClr val="tx1"/>
                </a:solidFill>
              </a:rPr>
              <a:t>View Details</a:t>
            </a:r>
            <a:endParaRPr lang="en-US" sz="1400" dirty="0"/>
          </a:p>
        </p:txBody>
      </p:sp>
      <p:sp>
        <p:nvSpPr>
          <p:cNvPr id="20" name="Shape 18"/>
          <p:cNvSpPr/>
          <p:nvPr/>
        </p:nvSpPr>
        <p:spPr>
          <a:xfrm>
            <a:off x="5870448" y="4320540"/>
            <a:ext cx="329184" cy="0"/>
          </a:xfrm>
          <a:prstGeom prst="line">
            <a:avLst/>
          </a:prstGeom>
          <a:noFill/>
          <a:ln w="28575">
            <a:solidFill>
              <a:schemeClr val="tx2"/>
            </a:solidFill>
            <a:prstDash val="solid"/>
            <a:tailEnd type="triangle"/>
          </a:ln>
        </p:spPr>
      </p:sp>
      <p:sp>
        <p:nvSpPr>
          <p:cNvPr id="21" name="Text 19"/>
          <p:cNvSpPr txBox="1"/>
          <p:nvPr/>
        </p:nvSpPr>
        <p:spPr>
          <a:xfrm>
            <a:off x="6217920" y="3931920"/>
            <a:ext cx="1554480" cy="777240"/>
          </a:xfrm>
          <a:prstGeom prst="roundRect">
            <a:avLst>
              <a:gd name="adj" fmla="val 7059"/>
            </a:avLst>
          </a:prstGeom>
          <a:solidFill>
            <a:schemeClr val="accent2">
              <a:alpha val="10000"/>
            </a:schemeClr>
          </a:solidFill>
          <a:ln w="19050">
            <a:solidFill>
              <a:schemeClr val="accent2"/>
            </a:solidFill>
          </a:ln>
        </p:spPr>
        <p:txBody>
          <a:bodyPr wrap="square" lIns="1016" tIns="1016" rIns="1016" bIns="1016" rtlCol="0" anchor="ctr"/>
          <a:lstStyle/>
          <a:p>
            <a:pPr algn="ctr" indent="0" marL="0">
              <a:buNone/>
            </a:pPr>
            <a:r>
              <a:rPr lang="en-US" sz="1400" b="1" dirty="0">
                <a:solidFill>
                  <a:schemeClr val="tx1"/>
                </a:solidFill>
              </a:rPr>
              <a:t>Watch Movie</a:t>
            </a:r>
            <a:endParaRPr lang="en-US" sz="1400" dirty="0"/>
          </a:p>
        </p:txBody>
      </p:sp>
      <p:sp>
        <p:nvSpPr>
          <p:cNvPr id="22" name="Shape 20"/>
          <p:cNvSpPr/>
          <p:nvPr/>
        </p:nvSpPr>
        <p:spPr>
          <a:xfrm>
            <a:off x="7790688" y="4320540"/>
            <a:ext cx="329184" cy="0"/>
          </a:xfrm>
          <a:prstGeom prst="line">
            <a:avLst/>
          </a:prstGeom>
          <a:noFill/>
          <a:ln w="28575">
            <a:solidFill>
              <a:schemeClr val="tx2"/>
            </a:solidFill>
            <a:prstDash val="solid"/>
            <a:tailEnd type="triangle"/>
          </a:ln>
        </p:spPr>
      </p:sp>
      <p:sp>
        <p:nvSpPr>
          <p:cNvPr id="23" name="Text 21"/>
          <p:cNvSpPr txBox="1"/>
          <p:nvPr/>
        </p:nvSpPr>
        <p:spPr>
          <a:xfrm>
            <a:off x="8138160" y="3931920"/>
            <a:ext cx="1554480" cy="777240"/>
          </a:xfrm>
          <a:prstGeom prst="roundRect">
            <a:avLst>
              <a:gd name="adj" fmla="val 7059"/>
            </a:avLst>
          </a:prstGeom>
          <a:solidFill>
            <a:schemeClr val="accent3">
              <a:alpha val="10000"/>
            </a:schemeClr>
          </a:solidFill>
          <a:ln w="19050">
            <a:solidFill>
              <a:schemeClr val="accent3"/>
            </a:solidFill>
          </a:ln>
        </p:spPr>
        <p:txBody>
          <a:bodyPr wrap="square" lIns="1016" tIns="1016" rIns="1016" bIns="1016" rtlCol="0" anchor="ctr"/>
          <a:lstStyle/>
          <a:p>
            <a:pPr algn="ctr" indent="0" marL="0">
              <a:buNone/>
            </a:pPr>
            <a:r>
              <a:rPr lang="en-US" sz="1400" b="1" dirty="0">
                <a:solidFill>
                  <a:schemeClr val="tx1"/>
                </a:solidFill>
              </a:rPr>
              <a:t>Save Progress</a:t>
            </a:r>
            <a:endParaRPr lang="en-US" sz="1400" dirty="0"/>
          </a:p>
        </p:txBody>
      </p:sp>
      <p:sp>
        <p:nvSpPr>
          <p:cNvPr id="24" name="Shape 22"/>
          <p:cNvSpPr/>
          <p:nvPr/>
        </p:nvSpPr>
        <p:spPr>
          <a:xfrm>
            <a:off x="9710928" y="4320540"/>
            <a:ext cx="329184" cy="0"/>
          </a:xfrm>
          <a:prstGeom prst="line">
            <a:avLst/>
          </a:prstGeom>
          <a:noFill/>
          <a:ln w="28575">
            <a:solidFill>
              <a:schemeClr val="tx2"/>
            </a:solidFill>
            <a:prstDash val="solid"/>
            <a:tailEnd type="triangle"/>
          </a:ln>
        </p:spPr>
      </p:sp>
      <p:sp>
        <p:nvSpPr>
          <p:cNvPr id="25" name="Text 23"/>
          <p:cNvSpPr txBox="1"/>
          <p:nvPr/>
        </p:nvSpPr>
        <p:spPr>
          <a:xfrm>
            <a:off x="10058400" y="3931920"/>
            <a:ext cx="1554480" cy="777240"/>
          </a:xfrm>
          <a:prstGeom prst="roundRect">
            <a:avLst>
              <a:gd name="adj" fmla="val 7059"/>
            </a:avLst>
          </a:prstGeom>
          <a:solidFill>
            <a:schemeClr val="accent3">
              <a:alpha val="10000"/>
            </a:schemeClr>
          </a:solidFill>
          <a:ln w="19050">
            <a:solidFill>
              <a:schemeClr val="accent3"/>
            </a:solidFill>
          </a:ln>
        </p:spPr>
        <p:txBody>
          <a:bodyPr wrap="square" lIns="1016" tIns="1016" rIns="1016" bIns="1016" rtlCol="0" anchor="ctr"/>
          <a:lstStyle/>
          <a:p>
            <a:pPr algn="ctr" indent="0" marL="0">
              <a:buNone/>
            </a:pPr>
            <a:r>
              <a:rPr lang="en-US" sz="1400" b="1" dirty="0">
                <a:solidFill>
                  <a:schemeClr val="tx1"/>
                </a:solidFill>
              </a:rPr>
              <a:t>Continue Watching / Watch Again</a:t>
            </a:r>
            <a:endParaRPr lang="en-US" sz="1400" dirty="0"/>
          </a:p>
        </p:txBody>
      </p:sp>
      <p:sp>
        <p:nvSpPr>
          <p:cNvPr id="26" name="Text 24"/>
          <p:cNvSpPr txBox="1"/>
          <p:nvPr/>
        </p:nvSpPr>
        <p:spPr>
          <a:xfrm>
            <a:off x="457200" y="4846320"/>
            <a:ext cx="3657600" cy="256032"/>
          </a:xfrm>
          <a:prstGeom prst="rect">
            <a:avLst/>
          </a:prstGeom>
          <a:noFill/>
          <a:ln/>
        </p:spPr>
        <p:txBody>
          <a:bodyPr wrap="square" lIns="0" tIns="0" rIns="0" bIns="0" rtlCol="0" anchor="t"/>
          <a:lstStyle/>
          <a:p>
            <a:pPr indent="0" marL="0">
              <a:buNone/>
            </a:pPr>
            <a:r>
              <a:rPr lang="en-US" sz="1400" b="1" dirty="0">
                <a:solidFill>
                  <a:schemeClr val="tx2"/>
                </a:solidFill>
              </a:rPr>
              <a:t>Communication paths</a:t>
            </a:r>
            <a:endParaRPr lang="en-US" sz="1400" dirty="0"/>
          </a:p>
        </p:txBody>
      </p:sp>
      <p:sp>
        <p:nvSpPr>
          <p:cNvPr id="27" name="Text 25"/>
          <p:cNvSpPr txBox="1"/>
          <p:nvPr/>
        </p:nvSpPr>
        <p:spPr>
          <a:xfrm>
            <a:off x="457200" y="5166360"/>
            <a:ext cx="2286000" cy="1188720"/>
          </a:xfrm>
          <a:prstGeom prst="roundRect">
            <a:avLst>
              <a:gd name="adj" fmla="val 4615"/>
            </a:avLst>
          </a:prstGeom>
          <a:solidFill>
            <a:schemeClr val="bg1"/>
          </a:solidFill>
          <a:ln w="19050">
            <a:solidFill>
              <a:schemeClr val="accent1"/>
            </a:solidFill>
          </a:ln>
        </p:spPr>
        <p:txBody>
          <a:bodyPr wrap="square" lIns="762" tIns="762" rIns="762" bIns="762" rtlCol="0" anchor="ctr"/>
          <a:lstStyle/>
          <a:p>
            <a:pPr algn="ctr" indent="0" marL="0">
              <a:buNone/>
            </a:pPr>
            <a:r>
              <a:rPr lang="en-US" sz="1400" b="1" dirty="0">
                <a:solidFill>
                  <a:schemeClr val="tx1"/>
                </a:solidFill>
              </a:rPr>
              <a:t>React + Nginx</a:t>
            </a:r>
            <a:endParaRPr lang="en-US" sz="1400" dirty="0"/>
          </a:p>
          <a:p>
            <a:pPr algn="ctr" indent="0" marL="0">
              <a:buNone/>
            </a:pPr>
            <a:r>
              <a:rPr lang="en-US" sz="1400" dirty="0">
                <a:solidFill>
                  <a:schemeClr val="tx1"/>
                </a:solidFill>
              </a:rPr>
              <a:t>Serves MP4 via HTTP byte-range requests</a:t>
            </a:r>
            <a:endParaRPr lang="en-US" sz="1400" dirty="0"/>
          </a:p>
        </p:txBody>
      </p:sp>
      <p:sp>
        <p:nvSpPr>
          <p:cNvPr id="28" name="Text 26"/>
          <p:cNvSpPr txBox="1"/>
          <p:nvPr/>
        </p:nvSpPr>
        <p:spPr>
          <a:xfrm>
            <a:off x="4663440" y="5166360"/>
            <a:ext cx="2468880" cy="457200"/>
          </a:xfrm>
          <a:prstGeom prst="roundRect">
            <a:avLst>
              <a:gd name="adj" fmla="val 12000"/>
            </a:avLst>
          </a:prstGeom>
          <a:solidFill>
            <a:schemeClr val="bg1"/>
          </a:solidFill>
          <a:ln w="19050">
            <a:solidFill>
              <a:schemeClr val="accent2"/>
            </a:solidFill>
          </a:ln>
        </p:spPr>
        <p:txBody>
          <a:bodyPr wrap="square" lIns="1016" tIns="1016" rIns="1016" bIns="1016" rtlCol="0" anchor="ctr"/>
          <a:lstStyle/>
          <a:p>
            <a:pPr algn="ctr" indent="0" marL="0">
              <a:buNone/>
            </a:pPr>
            <a:r>
              <a:rPr lang="en-US" sz="1400" b="1" dirty="0">
                <a:solidFill>
                  <a:schemeClr val="tx1"/>
                </a:solidFill>
              </a:rPr>
              <a:t>HAProxy / Catalog</a:t>
            </a:r>
            <a:endParaRPr lang="en-US" sz="1400" dirty="0"/>
          </a:p>
        </p:txBody>
      </p:sp>
      <p:sp>
        <p:nvSpPr>
          <p:cNvPr id="29" name="Text 27"/>
          <p:cNvSpPr txBox="1"/>
          <p:nvPr/>
        </p:nvSpPr>
        <p:spPr>
          <a:xfrm>
            <a:off x="4663440" y="5760720"/>
            <a:ext cx="2468880" cy="594360"/>
          </a:xfrm>
          <a:prstGeom prst="roundRect">
            <a:avLst>
              <a:gd name="adj" fmla="val 9231"/>
            </a:avLst>
          </a:prstGeom>
          <a:solidFill>
            <a:schemeClr val="bg1"/>
          </a:solidFill>
          <a:ln w="19050">
            <a:solidFill>
              <a:schemeClr val="accent2"/>
            </a:solidFill>
          </a:ln>
        </p:spPr>
        <p:txBody>
          <a:bodyPr wrap="square" lIns="1016" tIns="1016" rIns="1016" bIns="1016" rtlCol="0" anchor="ctr"/>
          <a:lstStyle/>
          <a:p>
            <a:pPr algn="ctr" indent="0" marL="0">
              <a:buNone/>
            </a:pPr>
            <a:r>
              <a:rPr lang="en-US" sz="1400" b="1" dirty="0">
                <a:solidFill>
                  <a:schemeClr val="tx1"/>
                </a:solidFill>
              </a:rPr>
              <a:t>Streaming Session Service</a:t>
            </a:r>
            <a:endParaRPr lang="en-US" sz="1400" dirty="0"/>
          </a:p>
        </p:txBody>
      </p:sp>
      <p:sp>
        <p:nvSpPr>
          <p:cNvPr id="30" name="Text 28"/>
          <p:cNvSpPr txBox="1"/>
          <p:nvPr/>
        </p:nvSpPr>
        <p:spPr>
          <a:xfrm>
            <a:off x="8778240" y="5760720"/>
            <a:ext cx="2926080" cy="594360"/>
          </a:xfrm>
          <a:prstGeom prst="roundRect">
            <a:avLst>
              <a:gd name="adj" fmla="val 9231"/>
            </a:avLst>
          </a:prstGeom>
          <a:solidFill>
            <a:schemeClr val="bg1"/>
          </a:solidFill>
          <a:ln w="19050">
            <a:solidFill>
              <a:schemeClr val="accent4"/>
            </a:solidFill>
          </a:ln>
        </p:spPr>
        <p:txBody>
          <a:bodyPr wrap="square" lIns="1016" tIns="1016" rIns="1016" bIns="1016" rtlCol="0" anchor="ctr"/>
          <a:lstStyle/>
          <a:p>
            <a:pPr algn="ctr" indent="0" marL="0">
              <a:buNone/>
            </a:pPr>
            <a:r>
              <a:rPr lang="en-US" sz="1400" b="1" dirty="0">
                <a:solidFill>
                  <a:schemeClr val="tx1"/>
                </a:solidFill>
              </a:rPr>
              <a:t>Sessions PostgreSQL</a:t>
            </a:r>
            <a:endParaRPr lang="en-US" sz="1400" dirty="0"/>
          </a:p>
        </p:txBody>
      </p:sp>
      <p:sp>
        <p:nvSpPr>
          <p:cNvPr id="31" name="Shape 29"/>
          <p:cNvSpPr/>
          <p:nvPr/>
        </p:nvSpPr>
        <p:spPr>
          <a:xfrm>
            <a:off x="2743200" y="5394960"/>
            <a:ext cx="1920240" cy="0"/>
          </a:xfrm>
          <a:prstGeom prst="line">
            <a:avLst/>
          </a:prstGeom>
          <a:noFill/>
          <a:ln w="28575">
            <a:solidFill>
              <a:schemeClr val="accent2"/>
            </a:solidFill>
            <a:prstDash val="solid"/>
            <a:tailEnd type="triangle"/>
          </a:ln>
        </p:spPr>
      </p:sp>
      <p:sp>
        <p:nvSpPr>
          <p:cNvPr id="32" name="Text 30"/>
          <p:cNvSpPr txBox="1"/>
          <p:nvPr/>
        </p:nvSpPr>
        <p:spPr>
          <a:xfrm>
            <a:off x="2834640" y="5120640"/>
            <a:ext cx="1783080" cy="237744"/>
          </a:xfrm>
          <a:prstGeom prst="rect">
            <a:avLst/>
          </a:prstGeom>
          <a:noFill/>
          <a:ln/>
        </p:spPr>
        <p:txBody>
          <a:bodyPr wrap="square" lIns="0" tIns="0" rIns="0" bIns="0" rtlCol="0" anchor="t"/>
          <a:lstStyle/>
          <a:p>
            <a:pPr algn="ctr" indent="0" marL="0">
              <a:buNone/>
            </a:pPr>
            <a:r>
              <a:rPr lang="en-US" sz="1400" dirty="0">
                <a:solidFill>
                  <a:schemeClr val="accent2"/>
                </a:solidFill>
              </a:rPr>
              <a:t>WebSocket (Catalog)</a:t>
            </a:r>
            <a:endParaRPr lang="en-US" sz="1400" dirty="0"/>
          </a:p>
        </p:txBody>
      </p:sp>
      <p:sp>
        <p:nvSpPr>
          <p:cNvPr id="33" name="Shape 31"/>
          <p:cNvSpPr/>
          <p:nvPr/>
        </p:nvSpPr>
        <p:spPr>
          <a:xfrm>
            <a:off x="2743200" y="5897880"/>
            <a:ext cx="1920240" cy="0"/>
          </a:xfrm>
          <a:prstGeom prst="line">
            <a:avLst/>
          </a:prstGeom>
          <a:noFill/>
          <a:ln w="28575">
            <a:solidFill>
              <a:schemeClr val="accent1"/>
            </a:solidFill>
            <a:prstDash val="solid"/>
            <a:tailEnd type="triangle"/>
          </a:ln>
        </p:spPr>
      </p:sp>
      <p:sp>
        <p:nvSpPr>
          <p:cNvPr id="34" name="Text 32"/>
          <p:cNvSpPr txBox="1"/>
          <p:nvPr/>
        </p:nvSpPr>
        <p:spPr>
          <a:xfrm>
            <a:off x="2834640" y="5623560"/>
            <a:ext cx="1783080" cy="237744"/>
          </a:xfrm>
          <a:prstGeom prst="rect">
            <a:avLst/>
          </a:prstGeom>
          <a:noFill/>
          <a:ln/>
        </p:spPr>
        <p:txBody>
          <a:bodyPr wrap="square" lIns="0" tIns="0" rIns="0" bIns="0" rtlCol="0" anchor="t"/>
          <a:lstStyle/>
          <a:p>
            <a:pPr algn="ctr" indent="0" marL="0">
              <a:buNone/>
            </a:pPr>
            <a:r>
              <a:rPr lang="en-US" sz="1400" dirty="0">
                <a:solidFill>
                  <a:schemeClr val="accent1"/>
                </a:solidFill>
              </a:rPr>
              <a:t>HTTP (login)</a:t>
            </a:r>
            <a:endParaRPr lang="en-US" sz="1400" dirty="0"/>
          </a:p>
        </p:txBody>
      </p:sp>
      <p:sp>
        <p:nvSpPr>
          <p:cNvPr id="35" name="Shape 33"/>
          <p:cNvSpPr/>
          <p:nvPr/>
        </p:nvSpPr>
        <p:spPr>
          <a:xfrm>
            <a:off x="2743200" y="6263640"/>
            <a:ext cx="1920240" cy="0"/>
          </a:xfrm>
          <a:prstGeom prst="line">
            <a:avLst/>
          </a:prstGeom>
          <a:noFill/>
          <a:ln w="28575">
            <a:solidFill>
              <a:schemeClr val="accent2"/>
            </a:solidFill>
            <a:prstDash val="solid"/>
            <a:tailEnd type="triangle"/>
          </a:ln>
        </p:spPr>
      </p:sp>
      <p:sp>
        <p:nvSpPr>
          <p:cNvPr id="36" name="Text 34"/>
          <p:cNvSpPr txBox="1"/>
          <p:nvPr/>
        </p:nvSpPr>
        <p:spPr>
          <a:xfrm>
            <a:off x="2834640" y="5989320"/>
            <a:ext cx="1783080" cy="237744"/>
          </a:xfrm>
          <a:prstGeom prst="rect">
            <a:avLst/>
          </a:prstGeom>
          <a:noFill/>
          <a:ln/>
        </p:spPr>
        <p:txBody>
          <a:bodyPr wrap="square" lIns="0" tIns="0" rIns="0" bIns="0" rtlCol="0" anchor="t"/>
          <a:lstStyle/>
          <a:p>
            <a:pPr algn="ctr" indent="0" marL="0">
              <a:buNone/>
            </a:pPr>
            <a:r>
              <a:rPr lang="en-US" sz="1400" dirty="0">
                <a:solidFill>
                  <a:schemeClr val="accent2"/>
                </a:solidFill>
              </a:rPr>
              <a:t>WebSocket (session)</a:t>
            </a:r>
            <a:endParaRPr lang="en-US" sz="1400" dirty="0"/>
          </a:p>
        </p:txBody>
      </p:sp>
      <p:sp>
        <p:nvSpPr>
          <p:cNvPr id="37" name="Shape 35"/>
          <p:cNvSpPr/>
          <p:nvPr/>
        </p:nvSpPr>
        <p:spPr>
          <a:xfrm>
            <a:off x="7132320" y="6053328"/>
            <a:ext cx="1645920" cy="0"/>
          </a:xfrm>
          <a:prstGeom prst="line">
            <a:avLst/>
          </a:prstGeom>
          <a:noFill/>
          <a:ln w="28575">
            <a:solidFill>
              <a:schemeClr val="tx2"/>
            </a:solidFill>
            <a:prstDash val="solid"/>
            <a:tailEnd type="triangle"/>
          </a:ln>
        </p:spPr>
      </p:sp>
      <p:sp>
        <p:nvSpPr>
          <p:cNvPr id="38" name="Text 36"/>
          <p:cNvSpPr txBox="1"/>
          <p:nvPr/>
        </p:nvSpPr>
        <p:spPr>
          <a:xfrm>
            <a:off x="7498080" y="5166360"/>
            <a:ext cx="4206240" cy="502920"/>
          </a:xfrm>
          <a:prstGeom prst="rect">
            <a:avLst/>
          </a:prstGeom>
          <a:noFill/>
          <a:ln/>
        </p:spPr>
        <p:txBody>
          <a:bodyPr wrap="square" lIns="0" tIns="0" rIns="0" bIns="0" rtlCol="0" anchor="t"/>
          <a:lstStyle/>
          <a:p>
            <a:pPr indent="0" marL="0">
              <a:buNone/>
            </a:pPr>
            <a:r>
              <a:rPr lang="en-US" sz="1400" i="1" dirty="0">
                <a:solidFill>
                  <a:schemeClr val="tx2"/>
                </a:solidFill>
              </a:rPr>
              <a:t>Video files are served by Nginx, not by the Catalog or Streaming Session services.</a:t>
            </a:r>
            <a:endParaRPr lang="en-US" sz="14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3200" b="1" dirty="0">
                <a:solidFill>
                  <a:schemeClr val="tx1"/>
                </a:solidFill>
              </a:rPr>
              <a:t>Conclusion</a:t>
            </a:r>
            <a:endParaRPr lang="en-US" sz="3200" dirty="0"/>
          </a:p>
        </p:txBody>
      </p:sp>
      <p:sp>
        <p:nvSpPr>
          <p:cNvPr id="3" name="Text 1"/>
          <p:cNvSpPr txBox="1"/>
          <p:nvPr/>
        </p:nvSpPr>
        <p:spPr>
          <a:xfrm>
            <a:off x="457200" y="1097280"/>
            <a:ext cx="5760720" cy="365760"/>
          </a:xfrm>
          <a:prstGeom prst="rect">
            <a:avLst/>
          </a:prstGeom>
          <a:noFill/>
          <a:ln/>
        </p:spPr>
        <p:txBody>
          <a:bodyPr wrap="square" lIns="0" tIns="0" rIns="0" bIns="0" rtlCol="0" anchor="t"/>
          <a:lstStyle/>
          <a:p>
            <a:pPr indent="0" marL="0">
              <a:buNone/>
            </a:pPr>
            <a:r>
              <a:rPr lang="en-US" sz="2200" b="1" dirty="0">
                <a:solidFill>
                  <a:schemeClr val="accent1"/>
                </a:solidFill>
              </a:rPr>
              <a:t>Key Achievements</a:t>
            </a:r>
            <a:endParaRPr lang="en-US" sz="2200" dirty="0"/>
          </a:p>
        </p:txBody>
      </p:sp>
      <p:sp>
        <p:nvSpPr>
          <p:cNvPr id="4" name="Text 2"/>
          <p:cNvSpPr txBox="1"/>
          <p:nvPr/>
        </p:nvSpPr>
        <p:spPr>
          <a:xfrm>
            <a:off x="457200" y="1554480"/>
            <a:ext cx="6035040" cy="4023360"/>
          </a:xfrm>
          <a:prstGeom prst="rect">
            <a:avLst/>
          </a:prstGeom>
          <a:noFill/>
          <a:ln/>
        </p:spPr>
        <p:txBody>
          <a:bodyPr wrap="square" lIns="0" tIns="0" rIns="0" bIns="0" rtlCol="0" anchor="t"/>
          <a:lstStyle/>
          <a:p>
            <a:pPr marL="203200" indent="-203200">
              <a:spcAft>
                <a:spcPts val="500"/>
              </a:spcAft>
              <a:buSzPct val="100000"/>
              <a:buChar char="•"/>
            </a:pPr>
            <a:r>
              <a:rPr lang="en-US" sz="1600" dirty="0">
                <a:solidFill>
                  <a:schemeClr val="tx1"/>
                </a:solidFill>
              </a:rPr>
              <a:t>Developed a containerized, multi-service streaming application.</a:t>
            </a:r>
            <a:endParaRPr lang="en-US" sz="1400" dirty="0"/>
          </a:p>
          <a:p>
            <a:pPr marL="203200" indent="-203200">
              <a:spcAft>
                <a:spcPts val="500"/>
              </a:spcAft>
              <a:buSzPct val="100000"/>
              <a:buChar char="•"/>
            </a:pPr>
            <a:r>
              <a:rPr lang="en-US" sz="1600" dirty="0">
                <a:solidFill>
                  <a:schemeClr val="tx1"/>
                </a:solidFill>
              </a:rPr>
              <a:t>Separated Movie Catalog and Streaming Session responsibilities.</a:t>
            </a:r>
            <a:endParaRPr lang="en-US" sz="1400" dirty="0"/>
          </a:p>
          <a:p>
            <a:pPr marL="203200" indent="-203200">
              <a:spcAft>
                <a:spcPts val="500"/>
              </a:spcAft>
              <a:buSzPct val="100000"/>
              <a:buChar char="•"/>
            </a:pPr>
            <a:r>
              <a:rPr lang="en-US" sz="1600" dirty="0">
                <a:solidFill>
                  <a:schemeClr val="tx1"/>
                </a:solidFill>
              </a:rPr>
              <a:t>Implemented TCP resilience using timeouts, bounded retries, backoff, and a circuit breaker.</a:t>
            </a:r>
            <a:endParaRPr lang="en-US" sz="1400" dirty="0"/>
          </a:p>
          <a:p>
            <a:pPr marL="203200" indent="-203200">
              <a:spcAft>
                <a:spcPts val="500"/>
              </a:spcAft>
              <a:buSzPct val="100000"/>
              <a:buChar char="•"/>
            </a:pPr>
            <a:r>
              <a:rPr lang="en-US" sz="1600" dirty="0">
                <a:solidFill>
                  <a:schemeClr val="tx1"/>
                </a:solidFill>
              </a:rPr>
              <a:t>Distributed Catalog traffic across two instances using HAProxy.</a:t>
            </a:r>
            <a:endParaRPr lang="en-US" sz="1400" dirty="0"/>
          </a:p>
          <a:p>
            <a:pPr marL="203200" indent="-203200">
              <a:spcAft>
                <a:spcPts val="500"/>
              </a:spcAft>
              <a:buSzPct val="100000"/>
              <a:buChar char="•"/>
            </a:pPr>
            <a:r>
              <a:rPr lang="en-US" sz="1600" dirty="0">
                <a:solidFill>
                  <a:schemeClr val="tx1"/>
                </a:solidFill>
              </a:rPr>
              <a:t>Configured asynchronous PostgreSQL streaming replication for Movies and Sessions.</a:t>
            </a:r>
            <a:endParaRPr lang="en-US" sz="1400" dirty="0"/>
          </a:p>
          <a:p>
            <a:pPr marL="203200" indent="-203200">
              <a:spcAft>
                <a:spcPts val="500"/>
              </a:spcAft>
              <a:buSzPct val="100000"/>
              <a:buChar char="•"/>
            </a:pPr>
            <a:r>
              <a:rPr lang="en-US" sz="1600" dirty="0">
                <a:solidFill>
                  <a:schemeClr val="tx1"/>
                </a:solidFill>
              </a:rPr>
              <a:t>Implemented on-demand logical database backup and restoration.</a:t>
            </a:r>
            <a:endParaRPr lang="en-US" sz="1400" dirty="0"/>
          </a:p>
          <a:p>
            <a:pPr marL="203200" indent="-203200">
              <a:spcAft>
                <a:spcPts val="500"/>
              </a:spcAft>
              <a:buSzPct val="100000"/>
              <a:buChar char="•"/>
            </a:pPr>
            <a:r>
              <a:rPr lang="en-US" sz="1600" dirty="0">
                <a:solidFill>
                  <a:schemeClr val="tx1"/>
                </a:solidFill>
              </a:rPr>
              <a:t>Integrated the frontend, backend services, and persistent storage.</a:t>
            </a:r>
            <a:endParaRPr lang="en-US" sz="1400" dirty="0"/>
          </a:p>
        </p:txBody>
      </p:sp>
      <p:sp>
        <p:nvSpPr>
          <p:cNvPr id="5" name="Text 3"/>
          <p:cNvSpPr txBox="1"/>
          <p:nvPr/>
        </p:nvSpPr>
        <p:spPr>
          <a:xfrm>
            <a:off x="6720840" y="1143000"/>
            <a:ext cx="1600200" cy="1051560"/>
          </a:xfrm>
          <a:prstGeom prst="roundRect">
            <a:avLst>
              <a:gd name="adj" fmla="val 5217"/>
            </a:avLst>
          </a:prstGeom>
          <a:solidFill>
            <a:schemeClr val="accent1">
              <a:alpha val="10000"/>
            </a:schemeClr>
          </a:solidFill>
          <a:ln w="19050">
            <a:solidFill>
              <a:schemeClr val="accent1"/>
            </a:solidFill>
          </a:ln>
        </p:spPr>
        <p:txBody>
          <a:bodyPr wrap="square" lIns="1524" tIns="1524" rIns="1524" bIns="1524" rtlCol="0" anchor="ctr"/>
          <a:lstStyle/>
          <a:p>
            <a:pPr algn="ctr" indent="0" marL="0">
              <a:buNone/>
            </a:pPr>
            <a:r>
              <a:rPr lang="en-US" sz="1400" b="1" dirty="0">
                <a:solidFill>
                  <a:schemeClr val="tx1"/>
                </a:solidFill>
              </a:rPr>
              <a:t>TCP Resilience</a:t>
            </a:r>
            <a:endParaRPr lang="en-US" sz="1400" dirty="0"/>
          </a:p>
        </p:txBody>
      </p:sp>
      <p:sp>
        <p:nvSpPr>
          <p:cNvPr id="6" name="Shape 4"/>
          <p:cNvSpPr/>
          <p:nvPr/>
        </p:nvSpPr>
        <p:spPr>
          <a:xfrm>
            <a:off x="7520940" y="2194560"/>
            <a:ext cx="0" cy="502920"/>
          </a:xfrm>
          <a:prstGeom prst="line">
            <a:avLst/>
          </a:prstGeom>
          <a:noFill/>
          <a:ln w="28575">
            <a:solidFill>
              <a:schemeClr val="tx2"/>
            </a:solidFill>
            <a:prstDash val="solid"/>
            <a:tailEnd type="triangle"/>
          </a:ln>
        </p:spPr>
      </p:sp>
      <p:sp>
        <p:nvSpPr>
          <p:cNvPr id="7" name="Text 5"/>
          <p:cNvSpPr txBox="1"/>
          <p:nvPr/>
        </p:nvSpPr>
        <p:spPr>
          <a:xfrm>
            <a:off x="8430768" y="1143000"/>
            <a:ext cx="1600200" cy="1051560"/>
          </a:xfrm>
          <a:prstGeom prst="roundRect">
            <a:avLst>
              <a:gd name="adj" fmla="val 5217"/>
            </a:avLst>
          </a:prstGeom>
          <a:solidFill>
            <a:schemeClr val="accent2">
              <a:alpha val="10000"/>
            </a:schemeClr>
          </a:solidFill>
          <a:ln w="19050">
            <a:solidFill>
              <a:schemeClr val="accent2"/>
            </a:solidFill>
          </a:ln>
        </p:spPr>
        <p:txBody>
          <a:bodyPr wrap="square" lIns="1524" tIns="1524" rIns="1524" bIns="1524" rtlCol="0" anchor="ctr"/>
          <a:lstStyle/>
          <a:p>
            <a:pPr algn="ctr" indent="0" marL="0">
              <a:buNone/>
            </a:pPr>
            <a:r>
              <a:rPr lang="en-US" sz="1400" b="1" dirty="0">
                <a:solidFill>
                  <a:schemeClr val="tx1"/>
                </a:solidFill>
              </a:rPr>
              <a:t>Catalog Load Balancing</a:t>
            </a:r>
            <a:endParaRPr lang="en-US" sz="1400" dirty="0"/>
          </a:p>
        </p:txBody>
      </p:sp>
      <p:sp>
        <p:nvSpPr>
          <p:cNvPr id="8" name="Shape 6"/>
          <p:cNvSpPr/>
          <p:nvPr/>
        </p:nvSpPr>
        <p:spPr>
          <a:xfrm>
            <a:off x="9230868" y="2194560"/>
            <a:ext cx="0" cy="502920"/>
          </a:xfrm>
          <a:prstGeom prst="line">
            <a:avLst/>
          </a:prstGeom>
          <a:noFill/>
          <a:ln w="28575">
            <a:solidFill>
              <a:schemeClr val="tx2"/>
            </a:solidFill>
            <a:prstDash val="solid"/>
            <a:tailEnd type="triangle"/>
          </a:ln>
        </p:spPr>
      </p:sp>
      <p:sp>
        <p:nvSpPr>
          <p:cNvPr id="9" name="Text 7"/>
          <p:cNvSpPr txBox="1"/>
          <p:nvPr/>
        </p:nvSpPr>
        <p:spPr>
          <a:xfrm>
            <a:off x="10140696" y="1143000"/>
            <a:ext cx="1600200" cy="1051560"/>
          </a:xfrm>
          <a:prstGeom prst="roundRect">
            <a:avLst>
              <a:gd name="adj" fmla="val 5217"/>
            </a:avLst>
          </a:prstGeom>
          <a:solidFill>
            <a:schemeClr val="accent3">
              <a:alpha val="10000"/>
            </a:schemeClr>
          </a:solidFill>
          <a:ln w="19050">
            <a:solidFill>
              <a:schemeClr val="accent3"/>
            </a:solidFill>
          </a:ln>
        </p:spPr>
        <p:txBody>
          <a:bodyPr wrap="square" lIns="1524" tIns="1524" rIns="1524" bIns="1524" rtlCol="0" anchor="ctr"/>
          <a:lstStyle/>
          <a:p>
            <a:pPr algn="ctr" indent="0" marL="0">
              <a:buNone/>
            </a:pPr>
            <a:r>
              <a:rPr lang="en-US" sz="1400" b="1" dirty="0">
                <a:solidFill>
                  <a:schemeClr val="tx1"/>
                </a:solidFill>
              </a:rPr>
              <a:t>Database Replication &amp; Backup</a:t>
            </a:r>
            <a:endParaRPr lang="en-US" sz="1400" dirty="0"/>
          </a:p>
        </p:txBody>
      </p:sp>
      <p:sp>
        <p:nvSpPr>
          <p:cNvPr id="10" name="Shape 8"/>
          <p:cNvSpPr/>
          <p:nvPr/>
        </p:nvSpPr>
        <p:spPr>
          <a:xfrm>
            <a:off x="10940796" y="2194560"/>
            <a:ext cx="0" cy="502920"/>
          </a:xfrm>
          <a:prstGeom prst="line">
            <a:avLst/>
          </a:prstGeom>
          <a:noFill/>
          <a:ln w="28575">
            <a:solidFill>
              <a:schemeClr val="tx2"/>
            </a:solidFill>
            <a:prstDash val="solid"/>
            <a:tailEnd type="triangle"/>
          </a:ln>
        </p:spPr>
      </p:sp>
      <p:sp>
        <p:nvSpPr>
          <p:cNvPr id="11" name="Text 9"/>
          <p:cNvSpPr txBox="1"/>
          <p:nvPr/>
        </p:nvSpPr>
        <p:spPr>
          <a:xfrm>
            <a:off x="6720840" y="2697480"/>
            <a:ext cx="5120640" cy="731520"/>
          </a:xfrm>
          <a:prstGeom prst="roundRect">
            <a:avLst>
              <a:gd name="adj" fmla="val 7500"/>
            </a:avLst>
          </a:prstGeom>
          <a:solidFill>
            <a:schemeClr val="tx1"/>
          </a:solidFill>
          <a:ln w="12700">
            <a:solidFill>
              <a:schemeClr val="tx1"/>
            </a:solidFill>
          </a:ln>
        </p:spPr>
        <p:txBody>
          <a:bodyPr wrap="square" lIns="1016" tIns="1016" rIns="1016" bIns="1016" rtlCol="0" anchor="ctr"/>
          <a:lstStyle/>
          <a:p>
            <a:pPr algn="ctr" indent="0" marL="0">
              <a:buNone/>
            </a:pPr>
            <a:r>
              <a:rPr lang="en-US" sz="1800" b="1" dirty="0">
                <a:solidFill>
                  <a:schemeClr val="bg1"/>
                </a:solidFill>
              </a:rPr>
              <a:t>Netflix Distributed Streaming Platform</a:t>
            </a:r>
            <a:endParaRPr lang="en-US" sz="1400" dirty="0"/>
          </a:p>
        </p:txBody>
      </p:sp>
      <p:sp>
        <p:nvSpPr>
          <p:cNvPr id="12" name="Text 10"/>
          <p:cNvSpPr txBox="1"/>
          <p:nvPr/>
        </p:nvSpPr>
        <p:spPr>
          <a:xfrm>
            <a:off x="6720840" y="3611880"/>
            <a:ext cx="5120640" cy="320040"/>
          </a:xfrm>
          <a:prstGeom prst="rect">
            <a:avLst/>
          </a:prstGeom>
          <a:noFill/>
          <a:ln/>
        </p:spPr>
        <p:txBody>
          <a:bodyPr wrap="square" lIns="0" tIns="0" rIns="0" bIns="0" rtlCol="0" anchor="t"/>
          <a:lstStyle/>
          <a:p>
            <a:pPr indent="0" marL="0">
              <a:buNone/>
            </a:pPr>
            <a:r>
              <a:rPr lang="en-US" sz="1800" b="1" dirty="0">
                <a:solidFill>
                  <a:schemeClr val="accent1"/>
                </a:solidFill>
              </a:rPr>
              <a:t>Technical Significance</a:t>
            </a:r>
            <a:endParaRPr lang="en-US" sz="1800" dirty="0"/>
          </a:p>
        </p:txBody>
      </p:sp>
      <p:sp>
        <p:nvSpPr>
          <p:cNvPr id="13" name="Text 11"/>
          <p:cNvSpPr txBox="1"/>
          <p:nvPr/>
        </p:nvSpPr>
        <p:spPr>
          <a:xfrm>
            <a:off x="6720840" y="4023360"/>
            <a:ext cx="2514600" cy="411480"/>
          </a:xfrm>
          <a:prstGeom prst="roundRect">
            <a:avLst>
              <a:gd name="adj" fmla="val 13333"/>
            </a:avLst>
          </a:prstGeom>
          <a:solidFill>
            <a:schemeClr val="bg2"/>
          </a:solidFill>
          <a:ln w="9525">
            <a:solidFill>
              <a:schemeClr val="accent6"/>
            </a:solidFill>
          </a:ln>
        </p:spPr>
        <p:txBody>
          <a:bodyPr wrap="square" lIns="508" tIns="508" rIns="508" bIns="508" rtlCol="0" anchor="ctr"/>
          <a:lstStyle/>
          <a:p>
            <a:pPr algn="ctr" indent="0" marL="0">
              <a:buNone/>
            </a:pPr>
            <a:r>
              <a:rPr lang="en-US" sz="1400" dirty="0">
                <a:solidFill>
                  <a:schemeClr val="tx1"/>
                </a:solidFill>
              </a:rPr>
              <a:t>Service separation</a:t>
            </a:r>
            <a:endParaRPr lang="en-US" sz="1400" dirty="0"/>
          </a:p>
        </p:txBody>
      </p:sp>
      <p:sp>
        <p:nvSpPr>
          <p:cNvPr id="14" name="Text 12"/>
          <p:cNvSpPr txBox="1"/>
          <p:nvPr/>
        </p:nvSpPr>
        <p:spPr>
          <a:xfrm>
            <a:off x="9326880" y="4023360"/>
            <a:ext cx="2514600" cy="411480"/>
          </a:xfrm>
          <a:prstGeom prst="roundRect">
            <a:avLst>
              <a:gd name="adj" fmla="val 13333"/>
            </a:avLst>
          </a:prstGeom>
          <a:solidFill>
            <a:schemeClr val="bg2"/>
          </a:solidFill>
          <a:ln w="9525">
            <a:solidFill>
              <a:schemeClr val="accent6"/>
            </a:solidFill>
          </a:ln>
        </p:spPr>
        <p:txBody>
          <a:bodyPr wrap="square" lIns="508" tIns="508" rIns="508" bIns="508" rtlCol="0" anchor="ctr"/>
          <a:lstStyle/>
          <a:p>
            <a:pPr algn="ctr" indent="0" marL="0">
              <a:buNone/>
            </a:pPr>
            <a:r>
              <a:rPr lang="en-US" sz="1400" dirty="0">
                <a:solidFill>
                  <a:schemeClr val="tx1"/>
                </a:solidFill>
              </a:rPr>
              <a:t>Inter-service fault handling</a:t>
            </a:r>
            <a:endParaRPr lang="en-US" sz="1400" dirty="0"/>
          </a:p>
        </p:txBody>
      </p:sp>
      <p:sp>
        <p:nvSpPr>
          <p:cNvPr id="15" name="Text 13"/>
          <p:cNvSpPr txBox="1"/>
          <p:nvPr/>
        </p:nvSpPr>
        <p:spPr>
          <a:xfrm>
            <a:off x="6720840" y="4526280"/>
            <a:ext cx="2514600" cy="411480"/>
          </a:xfrm>
          <a:prstGeom prst="roundRect">
            <a:avLst>
              <a:gd name="adj" fmla="val 13333"/>
            </a:avLst>
          </a:prstGeom>
          <a:solidFill>
            <a:schemeClr val="bg2"/>
          </a:solidFill>
          <a:ln w="9525">
            <a:solidFill>
              <a:schemeClr val="accent6"/>
            </a:solidFill>
          </a:ln>
        </p:spPr>
        <p:txBody>
          <a:bodyPr wrap="square" lIns="508" tIns="508" rIns="508" bIns="508" rtlCol="0" anchor="ctr"/>
          <a:lstStyle/>
          <a:p>
            <a:pPr algn="ctr" indent="0" marL="0">
              <a:buNone/>
            </a:pPr>
            <a:r>
              <a:rPr lang="en-US" sz="1400" dirty="0">
                <a:solidFill>
                  <a:schemeClr val="tx1"/>
                </a:solidFill>
              </a:rPr>
              <a:t>Load balancing &amp; recovery</a:t>
            </a:r>
            <a:endParaRPr lang="en-US" sz="1400" dirty="0"/>
          </a:p>
        </p:txBody>
      </p:sp>
      <p:sp>
        <p:nvSpPr>
          <p:cNvPr id="16" name="Text 14"/>
          <p:cNvSpPr txBox="1"/>
          <p:nvPr/>
        </p:nvSpPr>
        <p:spPr>
          <a:xfrm>
            <a:off x="9326880" y="4526280"/>
            <a:ext cx="2514600" cy="411480"/>
          </a:xfrm>
          <a:prstGeom prst="roundRect">
            <a:avLst>
              <a:gd name="adj" fmla="val 13333"/>
            </a:avLst>
          </a:prstGeom>
          <a:solidFill>
            <a:schemeClr val="bg2"/>
          </a:solidFill>
          <a:ln w="9525">
            <a:solidFill>
              <a:schemeClr val="accent6"/>
            </a:solidFill>
          </a:ln>
        </p:spPr>
        <p:txBody>
          <a:bodyPr wrap="square" lIns="508" tIns="508" rIns="508" bIns="508" rtlCol="0" anchor="ctr"/>
          <a:lstStyle/>
          <a:p>
            <a:pPr algn="ctr" indent="0" marL="0">
              <a:buNone/>
            </a:pPr>
            <a:r>
              <a:rPr lang="en-US" sz="1400" dirty="0">
                <a:solidFill>
                  <a:schemeClr val="tx1"/>
                </a:solidFill>
              </a:rPr>
              <a:t>Database replication</a:t>
            </a:r>
            <a:endParaRPr lang="en-US" sz="1400" dirty="0"/>
          </a:p>
        </p:txBody>
      </p:sp>
      <p:sp>
        <p:nvSpPr>
          <p:cNvPr id="17" name="Text 15"/>
          <p:cNvSpPr txBox="1"/>
          <p:nvPr/>
        </p:nvSpPr>
        <p:spPr>
          <a:xfrm>
            <a:off x="6720840" y="5029200"/>
            <a:ext cx="2514600" cy="411480"/>
          </a:xfrm>
          <a:prstGeom prst="roundRect">
            <a:avLst>
              <a:gd name="adj" fmla="val 13333"/>
            </a:avLst>
          </a:prstGeom>
          <a:solidFill>
            <a:schemeClr val="bg2"/>
          </a:solidFill>
          <a:ln w="9525">
            <a:solidFill>
              <a:schemeClr val="accent6"/>
            </a:solidFill>
          </a:ln>
        </p:spPr>
        <p:txBody>
          <a:bodyPr wrap="square" lIns="508" tIns="508" rIns="508" bIns="508" rtlCol="0" anchor="ctr"/>
          <a:lstStyle/>
          <a:p>
            <a:pPr algn="ctr" indent="0" marL="0">
              <a:buNone/>
            </a:pPr>
            <a:r>
              <a:rPr lang="en-US" sz="1400" dirty="0">
                <a:solidFill>
                  <a:schemeClr val="tx1"/>
                </a:solidFill>
              </a:rPr>
              <a:t>Backup and restoration</a:t>
            </a:r>
            <a:endParaRPr lang="en-US" sz="1400" dirty="0"/>
          </a:p>
        </p:txBody>
      </p:sp>
      <p:sp>
        <p:nvSpPr>
          <p:cNvPr id="18" name="Text 16"/>
          <p:cNvSpPr txBox="1"/>
          <p:nvPr/>
        </p:nvSpPr>
        <p:spPr>
          <a:xfrm>
            <a:off x="9326880" y="5029200"/>
            <a:ext cx="2514600" cy="411480"/>
          </a:xfrm>
          <a:prstGeom prst="roundRect">
            <a:avLst>
              <a:gd name="adj" fmla="val 13333"/>
            </a:avLst>
          </a:prstGeom>
          <a:solidFill>
            <a:schemeClr val="bg2"/>
          </a:solidFill>
          <a:ln w="9525">
            <a:solidFill>
              <a:schemeClr val="accent6"/>
            </a:solidFill>
          </a:ln>
        </p:spPr>
        <p:txBody>
          <a:bodyPr wrap="square" lIns="508" tIns="508" rIns="508" bIns="508" rtlCol="0" anchor="ctr"/>
          <a:lstStyle/>
          <a:p>
            <a:pPr algn="ctr" indent="0" marL="0">
              <a:buNone/>
            </a:pPr>
            <a:r>
              <a:rPr lang="en-US" sz="1400" dirty="0">
                <a:solidFill>
                  <a:schemeClr val="tx1"/>
                </a:solidFill>
              </a:rPr>
              <a:t>Containerized deployment</a:t>
            </a:r>
            <a:endParaRPr lang="en-US" sz="1400" dirty="0"/>
          </a:p>
        </p:txBody>
      </p:sp>
      <p:sp>
        <p:nvSpPr>
          <p:cNvPr id="19" name="Text 17"/>
          <p:cNvSpPr txBox="1"/>
          <p:nvPr/>
        </p:nvSpPr>
        <p:spPr>
          <a:xfrm>
            <a:off x="457200" y="5760720"/>
            <a:ext cx="11274552" cy="731520"/>
          </a:xfrm>
          <a:prstGeom prst="roundRect">
            <a:avLst>
              <a:gd name="adj" fmla="val 7500"/>
            </a:avLst>
          </a:prstGeom>
          <a:solidFill>
            <a:schemeClr val="accent1"/>
          </a:solidFill>
          <a:ln/>
        </p:spPr>
        <p:txBody>
          <a:bodyPr wrap="square" lIns="2540" tIns="2540" rIns="2540" bIns="2540" rtlCol="0" anchor="ctr"/>
          <a:lstStyle/>
          <a:p>
            <a:pPr algn="ctr" indent="0" marL="0">
              <a:buNone/>
            </a:pPr>
            <a:r>
              <a:rPr lang="en-US" sz="1800" b="1" dirty="0">
                <a:solidFill>
                  <a:schemeClr val="bg1"/>
                </a:solidFill>
              </a:rPr>
              <a:t>The project demonstrates practical distributed-systems concepts through resilient communication, load balancing, asynchronous database replication, and logical backup and restoration.</a:t>
            </a:r>
            <a:endParaRPr lang="en-US" sz="18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Academic Distributed Systems">
  <a:themeElements>
    <a:clrScheme name="Academic Distributed Systems">
      <a:dk1>
        <a:srgbClr val="222B33"/>
      </a:dk1>
      <a:lt1>
        <a:srgbClr val="FFFFFF"/>
      </a:lt1>
      <a:dk2>
        <a:srgbClr val="4A5560"/>
      </a:dk2>
      <a:lt2>
        <a:srgbClr val="F3F5F7"/>
      </a:lt2>
      <a:accent1>
        <a:srgbClr val="1F5FA8"/>
      </a:accent1>
      <a:accent2>
        <a:srgbClr val="2E7D4F"/>
      </a:accent2>
      <a:accent3>
        <a:srgbClr val="D9772B"/>
      </a:accent3>
      <a:accent4>
        <a:srgbClr val="7A5C9E"/>
      </a:accent4>
      <a:accent5>
        <a:srgbClr val="6B7580"/>
      </a:accent5>
      <a:accent6>
        <a:srgbClr val="B8C2CC"/>
      </a:accent6>
      <a:hlink>
        <a:srgbClr val="1F5FA8"/>
      </a:hlink>
      <a:folHlink>
        <a:srgbClr val="7A5C9E"/>
      </a:folHlink>
    </a:clrScheme>
    <a:fontScheme name="Academic Distributed System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Netflix Distributed Streaming Platform</dc:title>
  <dc:subject>Distributed Computing Project</dc:subject>
  <dc:creator>PptxGenJS</dc:creator>
  <cp:lastModifiedBy>PptxGenJS</cp:lastModifiedBy>
  <cp:revision>1</cp:revision>
  <dcterms:created xsi:type="dcterms:W3CDTF">2026-10-10T07:05:08Z</dcterms:created>
  <dcterms:modified xsi:type="dcterms:W3CDTF">2026-10-10T07:05:08Z</dcterms:modified>
</cp:coreProperties>
</file>